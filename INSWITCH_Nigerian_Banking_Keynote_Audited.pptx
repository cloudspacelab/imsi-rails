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6d79ebd507408d" /><Relationship Type="http://schemas.openxmlformats.org/officeDocument/2006/relationships/extended-properties" Target="/docProps/app.xml" Id="R28610939787f4208" /><Relationship Type="http://schemas.openxmlformats.org/officeDocument/2006/relationships/officeDocument" Target="/ppt/presentation.xml" Id="R9bd943205c9949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bf2786a5584604"/>
  </p:sldMasterIdLst>
  <p:notesMasterIdLst>
    <p:notesMasterId xmlns:r="http://schemas.openxmlformats.org/officeDocument/2006/relationships" r:id="R5df479da4bb94a00"/>
  </p:notesMasterIdLst>
  <p:sldIdLst>
    <p:sldId xmlns:r="http://schemas.openxmlformats.org/officeDocument/2006/relationships" id="256" r:id="Rb8c8de825641491f"/>
    <p:sldId xmlns:r="http://schemas.openxmlformats.org/officeDocument/2006/relationships" id="257" r:id="R9a351f655a334e4e"/>
    <p:sldId xmlns:r="http://schemas.openxmlformats.org/officeDocument/2006/relationships" id="258" r:id="Rb8b4646efecb429a"/>
    <p:sldId xmlns:r="http://schemas.openxmlformats.org/officeDocument/2006/relationships" id="259" r:id="Rdff98e64702147c6"/>
    <p:sldId xmlns:r="http://schemas.openxmlformats.org/officeDocument/2006/relationships" id="260" r:id="R1b2c3ad8a2574eaf"/>
    <p:sldId xmlns:r="http://schemas.openxmlformats.org/officeDocument/2006/relationships" id="261" r:id="R7db448f881774e5f"/>
    <p:sldId xmlns:r="http://schemas.openxmlformats.org/officeDocument/2006/relationships" id="262" r:id="Recd77817058d4aff"/>
    <p:sldId xmlns:r="http://schemas.openxmlformats.org/officeDocument/2006/relationships" id="263" r:id="R683e3611474a4339"/>
    <p:sldId xmlns:r="http://schemas.openxmlformats.org/officeDocument/2006/relationships" id="264" r:id="R0fdc7e27f1dc402d"/>
    <p:sldId xmlns:r="http://schemas.openxmlformats.org/officeDocument/2006/relationships" id="265" r:id="R9ee86c73abd643c8"/>
    <p:sldId xmlns:r="http://schemas.openxmlformats.org/officeDocument/2006/relationships" id="266" r:id="R6c2c5281e8784a79"/>
    <p:sldId xmlns:r="http://schemas.openxmlformats.org/officeDocument/2006/relationships" id="267" r:id="R8c5c85a0bbb84262"/>
    <p:sldId xmlns:r="http://schemas.openxmlformats.org/officeDocument/2006/relationships" id="268" r:id="R1644fd0569bb4d48"/>
    <p:sldId xmlns:r="http://schemas.openxmlformats.org/officeDocument/2006/relationships" id="269" r:id="R3b5afb0e50ab4330"/>
    <p:sldId xmlns:r="http://schemas.openxmlformats.org/officeDocument/2006/relationships" id="270" r:id="R160e18fab8c34138"/>
    <p:sldId xmlns:r="http://schemas.openxmlformats.org/officeDocument/2006/relationships" id="271" r:id="R395c2676544842c2"/>
    <p:sldId xmlns:r="http://schemas.openxmlformats.org/officeDocument/2006/relationships" id="272" r:id="R3734d89659c34ab7"/>
    <p:sldId xmlns:r="http://schemas.openxmlformats.org/officeDocument/2006/relationships" id="273" r:id="R28e08ff9c7604bbd"/>
    <p:sldId xmlns:r="http://schemas.openxmlformats.org/officeDocument/2006/relationships" id="274" r:id="R364589e083c242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f2786a5584604" /><Relationship Type="http://schemas.openxmlformats.org/officeDocument/2006/relationships/theme" Target="/ppt/theme/theme1.xml" Id="R775e1094b4b643e0" /><Relationship Type="http://schemas.openxmlformats.org/officeDocument/2006/relationships/notesMaster" Target="/ppt/notesMasters/notesMaster1.xml" Id="R5df479da4bb94a00" /><Relationship Type="http://schemas.openxmlformats.org/officeDocument/2006/relationships/presProps" Target="/ppt/presProps.xml" Id="Rc0d327428b6f4047" /><Relationship Type="http://schemas.openxmlformats.org/officeDocument/2006/relationships/viewProps" Target="/ppt/viewProps.xml" Id="R265ae84b31b34b8d" /><Relationship Type="http://schemas.openxmlformats.org/officeDocument/2006/relationships/tableStyles" Target="/ppt/tableStyles.xml" Id="Re725296b091b41b2" /><Relationship Type="http://schemas.openxmlformats.org/officeDocument/2006/relationships/slide" Target="/ppt/slides/slide1.xml" Id="Rb8c8de825641491f" /><Relationship Type="http://schemas.openxmlformats.org/officeDocument/2006/relationships/slide" Target="/ppt/slides/slide2.xml" Id="R9a351f655a334e4e" /><Relationship Type="http://schemas.openxmlformats.org/officeDocument/2006/relationships/slide" Target="/ppt/slides/slide3.xml" Id="Rb8b4646efecb429a" /><Relationship Type="http://schemas.openxmlformats.org/officeDocument/2006/relationships/slide" Target="/ppt/slides/slide4.xml" Id="Rdff98e64702147c6" /><Relationship Type="http://schemas.openxmlformats.org/officeDocument/2006/relationships/slide" Target="/ppt/slides/slide5.xml" Id="R1b2c3ad8a2574eaf" /><Relationship Type="http://schemas.openxmlformats.org/officeDocument/2006/relationships/slide" Target="/ppt/slides/slide6.xml" Id="R7db448f881774e5f" /><Relationship Type="http://schemas.openxmlformats.org/officeDocument/2006/relationships/slide" Target="/ppt/slides/slide7.xml" Id="Recd77817058d4aff" /><Relationship Type="http://schemas.openxmlformats.org/officeDocument/2006/relationships/slide" Target="/ppt/slides/slide8.xml" Id="R683e3611474a4339" /><Relationship Type="http://schemas.openxmlformats.org/officeDocument/2006/relationships/slide" Target="/ppt/slides/slide9.xml" Id="R0fdc7e27f1dc402d" /><Relationship Type="http://schemas.openxmlformats.org/officeDocument/2006/relationships/slide" Target="/ppt/slides/slide10.xml" Id="R9ee86c73abd643c8" /><Relationship Type="http://schemas.openxmlformats.org/officeDocument/2006/relationships/slide" Target="/ppt/slides/slide11.xml" Id="R6c2c5281e8784a79" /><Relationship Type="http://schemas.openxmlformats.org/officeDocument/2006/relationships/slide" Target="/ppt/slides/slide12.xml" Id="R8c5c85a0bbb84262" /><Relationship Type="http://schemas.openxmlformats.org/officeDocument/2006/relationships/slide" Target="/ppt/slides/slide13.xml" Id="R1644fd0569bb4d48" /><Relationship Type="http://schemas.openxmlformats.org/officeDocument/2006/relationships/slide" Target="/ppt/slides/slide14.xml" Id="R3b5afb0e50ab4330" /><Relationship Type="http://schemas.openxmlformats.org/officeDocument/2006/relationships/slide" Target="/ppt/slides/slide15.xml" Id="R160e18fab8c34138" /><Relationship Type="http://schemas.openxmlformats.org/officeDocument/2006/relationships/slide" Target="/ppt/slides/slide16.xml" Id="R395c2676544842c2" /><Relationship Type="http://schemas.openxmlformats.org/officeDocument/2006/relationships/slide" Target="/ppt/slides/slide17.xml" Id="R3734d89659c34ab7" /><Relationship Type="http://schemas.openxmlformats.org/officeDocument/2006/relationships/slide" Target="/ppt/slides/slide18.xml" Id="R28e08ff9c7604bbd" /><Relationship Type="http://schemas.openxmlformats.org/officeDocument/2006/relationships/slide" Target="/ppt/slides/slide19.xml" Id="R364589e083c242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46f61fc2b4341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d3089e5f7e4b72" /><Relationship Type="http://schemas.openxmlformats.org/officeDocument/2006/relationships/notesMaster" Target="/ppt/notesMasters/notesMaster1.xml" Id="R11564ef748f94d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7ec831790647e0" /><Relationship Type="http://schemas.openxmlformats.org/officeDocument/2006/relationships/notesMaster" Target="/ppt/notesMasters/notesMaster1.xml" Id="Rc1f1c450ff854b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fc6ea24e654b58" /><Relationship Type="http://schemas.openxmlformats.org/officeDocument/2006/relationships/notesMaster" Target="/ppt/notesMasters/notesMaster1.xml" Id="Rcaac89381cf045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4c161fe2ce4ad8" /><Relationship Type="http://schemas.openxmlformats.org/officeDocument/2006/relationships/notesMaster" Target="/ppt/notesMasters/notesMaster1.xml" Id="R81eeee0161e040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354561f2aa4437" /><Relationship Type="http://schemas.openxmlformats.org/officeDocument/2006/relationships/notesMaster" Target="/ppt/notesMasters/notesMaster1.xml" Id="R6068e188a99d43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27bd539f6245f3" /><Relationship Type="http://schemas.openxmlformats.org/officeDocument/2006/relationships/notesMaster" Target="/ppt/notesMasters/notesMaster1.xml" Id="Re407500b91e247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50492b833f45a8" /><Relationship Type="http://schemas.openxmlformats.org/officeDocument/2006/relationships/notesMaster" Target="/ppt/notesMasters/notesMaster1.xml" Id="Rf59fb5ea14a449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260a6ea6354038" /><Relationship Type="http://schemas.openxmlformats.org/officeDocument/2006/relationships/notesMaster" Target="/ppt/notesMasters/notesMaster1.xml" Id="R58aca58f0b3040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8e9d63aa2e4132" /><Relationship Type="http://schemas.openxmlformats.org/officeDocument/2006/relationships/notesMaster" Target="/ppt/notesMasters/notesMaster1.xml" Id="R3f6513c0e0aa42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2e448828b64a5f" /><Relationship Type="http://schemas.openxmlformats.org/officeDocument/2006/relationships/notesMaster" Target="/ppt/notesMasters/notesMaster1.xml" Id="Rcd1ef1835d5d4b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01e9b901ea4269" /><Relationship Type="http://schemas.openxmlformats.org/officeDocument/2006/relationships/notesMaster" Target="/ppt/notesMasters/notesMaster1.xml" Id="R52e8f112c0fb46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bdd5ca83ca495d" /><Relationship Type="http://schemas.openxmlformats.org/officeDocument/2006/relationships/notesMaster" Target="/ppt/notesMasters/notesMaster1.xml" Id="R87aa4cd9c3bc46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2699b026f14d4b" /><Relationship Type="http://schemas.openxmlformats.org/officeDocument/2006/relationships/notesMaster" Target="/ppt/notesMasters/notesMaster1.xml" Id="R320ec31a914745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5ae6b0a1be44cf" /><Relationship Type="http://schemas.openxmlformats.org/officeDocument/2006/relationships/notesMaster" Target="/ppt/notesMasters/notesMaster1.xml" Id="R88a3d888bafd42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1cec07a2794938" /><Relationship Type="http://schemas.openxmlformats.org/officeDocument/2006/relationships/notesMaster" Target="/ppt/notesMasters/notesMaster1.xml" Id="R4b220f8ae2c745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80f4a8130a43a0" /><Relationship Type="http://schemas.openxmlformats.org/officeDocument/2006/relationships/notesMaster" Target="/ppt/notesMasters/notesMaster1.xml" Id="Rc65c48204e3b47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07e9d32ff164946" /><Relationship Type="http://schemas.openxmlformats.org/officeDocument/2006/relationships/notesMaster" Target="/ppt/notesMasters/notesMaster1.xml" Id="R68ad5b2b5173404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d2738f692f041fb" /><Relationship Type="http://schemas.openxmlformats.org/officeDocument/2006/relationships/notesMaster" Target="/ppt/notesMasters/notesMaster1.xml" Id="R29ae979b19c14cf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42ac2db41e54ab2" /><Relationship Type="http://schemas.openxmlformats.org/officeDocument/2006/relationships/notesMaster" Target="/ppt/notesMasters/notesMaster1.xml" Id="Rcf200ea4c0ce44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ef5fe58f24da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9adec5fe31f4863" /><Relationship Type="http://schemas.openxmlformats.org/officeDocument/2006/relationships/slideLayout" Target="/ppt/slideLayouts/slideLayout2.xml" Id="Rba835f51f75940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835f51f75940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9448e37adc42bd" /><Relationship Type="http://schemas.openxmlformats.org/officeDocument/2006/relationships/notesSlide" Target="/ppt/notesSlides/notesSlide1.xml" Id="R2873d9cc148042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cfa30c11b34fd7" /><Relationship Type="http://schemas.openxmlformats.org/officeDocument/2006/relationships/notesSlide" Target="/ppt/notesSlides/notesSlide2.xml" Id="R8ebe53faf9e14b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facbcff26c4d80" /><Relationship Type="http://schemas.openxmlformats.org/officeDocument/2006/relationships/notesSlide" Target="/ppt/notesSlides/notesSlide3.xml" Id="R2578eae7c32741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acaaf0aee94a09" /><Relationship Type="http://schemas.openxmlformats.org/officeDocument/2006/relationships/notesSlide" Target="/ppt/notesSlides/notesSlide4.xml" Id="R8798e408097d4c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e916fe921b41d1" /><Relationship Type="http://schemas.openxmlformats.org/officeDocument/2006/relationships/notesSlide" Target="/ppt/notesSlides/notesSlide5.xml" Id="Rd7e3ce06424248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6cd54a7eb542e0" /><Relationship Type="http://schemas.openxmlformats.org/officeDocument/2006/relationships/notesSlide" Target="/ppt/notesSlides/notesSlide6.xml" Id="R7a513c04f7d646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04bb3e46ac411c" /><Relationship Type="http://schemas.openxmlformats.org/officeDocument/2006/relationships/notesSlide" Target="/ppt/notesSlides/notesSlide7.xml" Id="Recb4f0489dcc46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514c58ff5b4596" /><Relationship Type="http://schemas.openxmlformats.org/officeDocument/2006/relationships/notesSlide" Target="/ppt/notesSlides/notesSlide8.xml" Id="R5c7c3697316d41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dd8b418e98401e" /><Relationship Type="http://schemas.openxmlformats.org/officeDocument/2006/relationships/notesSlide" Target="/ppt/notesSlides/notesSlide9.xml" Id="R790387b657c14b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14eee9621340fe" /><Relationship Type="http://schemas.openxmlformats.org/officeDocument/2006/relationships/notesSlide" Target="/ppt/notesSlides/notesSlide10.xml" Id="Rec46331269894f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4f2458ca5844a6" /><Relationship Type="http://schemas.openxmlformats.org/officeDocument/2006/relationships/notesSlide" Target="/ppt/notesSlides/notesSlide11.xml" Id="R7ba6a289bb7748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f58d15b13042da" /><Relationship Type="http://schemas.openxmlformats.org/officeDocument/2006/relationships/notesSlide" Target="/ppt/notesSlides/notesSlide12.xml" Id="R18a8db789fc842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ead039a6144845" /><Relationship Type="http://schemas.openxmlformats.org/officeDocument/2006/relationships/notesSlide" Target="/ppt/notesSlides/notesSlide13.xml" Id="Re7c3a788eb714d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fa9358b87847f2" /><Relationship Type="http://schemas.openxmlformats.org/officeDocument/2006/relationships/image" Target="/ppt/media/image.png" Id="R7838a3eeb5af4021" /><Relationship Type="http://schemas.openxmlformats.org/officeDocument/2006/relationships/notesSlide" Target="/ppt/notesSlides/notesSlide14.xml" Id="R36a914756ae844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31f0cb0a39412c" /><Relationship Type="http://schemas.openxmlformats.org/officeDocument/2006/relationships/image" Target="/ppt/media/image2.png" Id="Rb5b6b9889cc24c9a" /><Relationship Type="http://schemas.openxmlformats.org/officeDocument/2006/relationships/notesSlide" Target="/ppt/notesSlides/notesSlide15.xml" Id="R09d002c5852640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0a445c7bcd43f9" /><Relationship Type="http://schemas.openxmlformats.org/officeDocument/2006/relationships/image" Target="/ppt/media/image3.png" Id="R6f9861d35b4f4f0b" /><Relationship Type="http://schemas.openxmlformats.org/officeDocument/2006/relationships/notesSlide" Target="/ppt/notesSlides/notesSlide16.xml" Id="R372e81bd2d024c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a03ae85e7c4f24" /><Relationship Type="http://schemas.openxmlformats.org/officeDocument/2006/relationships/image" Target="/ppt/media/image4.png" Id="Rbbceacac9b1c4520" /><Relationship Type="http://schemas.openxmlformats.org/officeDocument/2006/relationships/notesSlide" Target="/ppt/notesSlides/notesSlide17.xml" Id="R76d955024afc47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1319cab42c46ac" /><Relationship Type="http://schemas.openxmlformats.org/officeDocument/2006/relationships/image" Target="/ppt/media/image5.png" Id="R4e7f1309f6a94292" /><Relationship Type="http://schemas.openxmlformats.org/officeDocument/2006/relationships/notesSlide" Target="/ppt/notesSlides/notesSlide18.xml" Id="R6bf7524579b0419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3541ec9b3c4897" /><Relationship Type="http://schemas.openxmlformats.org/officeDocument/2006/relationships/notesSlide" Target="/ppt/notesSlides/notesSlide19.xml" Id="Re461679315c541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43E473-3C96-4702-9D6A-80370C68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3592A-10F2-49AB-B9EF-A96B0FCD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INSWITCH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43003-1F5D-4E52-BA17-7509848A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7429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NIP exception control for Nigerian payment teams.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84D18-F496-4E3C-BE85-74AA1557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676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8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8D0"/>
                </a:solidFill>
                <a:latin typeface="Aptos"/>
                <a:ea typeface="Aptos"/>
                <a:cs typeface="Aptos"/>
              </a:rPr>
              <a:t>Resolve failed Instant EFT, reversals, TSQ follow-up, settlement breaks, and customer-impacting exceptions from one operating desk.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E3868-D5DA-464B-882E-47DF7FC1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A"/>
          </a:solidFill>
          <a:ln xmlns:a="http://schemas.openxmlformats.org/drawingml/2006/main" w="9525">
            <a:solidFill>
              <a:srgbClr val="315B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6E6FC-6E50-42DD-B1ED-A92B1300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B7F78-320F-481F-A090-514C66B2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48225"/>
            <a:ext cx="108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NIP Direct Credit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B3E97-1FED-42E0-8730-FE3CBDF5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62500"/>
            <a:ext cx="74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A"/>
          </a:solidFill>
          <a:ln xmlns:a="http://schemas.openxmlformats.org/drawingml/2006/main" w="9525">
            <a:solidFill>
              <a:srgbClr val="315B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D6BA3-AB85-4B62-85FA-01124580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76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D7720-E3A2-4F9D-A64D-792717F3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48225"/>
            <a:ext cx="361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TSQ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FEE7A-090A-410C-9C85-1D524444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62500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A"/>
          </a:solidFill>
          <a:ln xmlns:a="http://schemas.openxmlformats.org/drawingml/2006/main" w="9525">
            <a:solidFill>
              <a:srgbClr val="315B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484BA-8F24-411A-A752-94F33486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76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02994-AAC7-449D-8F22-5450F6CE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48225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reversal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1107C-45D9-4604-A71A-C349399D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6250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A"/>
          </a:solidFill>
          <a:ln xmlns:a="http://schemas.openxmlformats.org/drawingml/2006/main" w="9525">
            <a:solidFill>
              <a:srgbClr val="315B4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8DE97-0AD8-428C-8846-05C16AC3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76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1BC6D-AEEF-46DF-9047-F654D61E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48225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settlement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D4AB7-086F-41C9-A6A3-F0A99D7A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2192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9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FBCAB-BD02-4EA3-8F9B-ED6A026F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43100"/>
            <a:ext cx="23241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Built for Payment Operations, Settlement, Reconciliation, Digital Banking, and Customer Experience teams.</a:t>
            </a:r>
          </a:p>
        </p:txBody>
      </p:sp>
    </p:spTree>
    <p:extLst>
      <p:ext uri="{BB962C8B-B14F-4D97-AF65-F5344CB8AC3E}">
        <p14:creationId xmlns:p14="http://schemas.microsoft.com/office/powerpoint/2010/main" val="19722537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210D26-D08C-47DE-AFD4-1A874DEF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CAEA3-2274-4D14-8253-07C93981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NIGERIAN PAYMENT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8E406-17A2-4125-A726-AF1302DB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19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rPr>
              <a:t>Run the desk in the language Nigerian payment teams already 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963F9-CE06-4478-A7FA-422A1B2C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Every queue, timer, and evidence field maps to NIP, Instant EFT, Sending Entity, Receiving Entity, TSQ, reversal, chargeback, DNS, and settlement report.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CC7A2-AFA5-4C8D-B437-00FA10B6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0C66B-34BA-44AD-8230-0A8B34FF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20BF1-23FC-4074-90E0-B8174632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43275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Sending 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7B5E0-F14C-4752-A2C8-8F358AD7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0040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6AA98-44F0-46B7-B0D4-945DFDAD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004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47767-8D3D-4F17-BA97-2DF3E48B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43275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Receiving 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A9F00-69E2-4297-A348-C82ADBDA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0400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2306C-19D3-4CB2-B455-5BA4360A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04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91D2A-51C5-4A8F-A4A7-D8BACFD8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43275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Name Enquiry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47418-64C6-4E67-A048-D86524B5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00400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D112F-EC10-4A55-A67C-888B4679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004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4EA2C-C5C8-4CA3-9FCD-C7BCDC83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43275"/>
            <a:ext cx="1219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Direct Credit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C84E5-2240-4A60-9E39-937FED0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04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7FCF2B-AC14-4F25-9F46-9CC515C8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04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BE376-DEA3-4390-B165-156C05B1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43275"/>
            <a:ext cx="188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Transaction Status Query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C3E41-FDDF-4525-9731-0872C9A8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4D970-5568-4B84-B0F1-D4697A46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872"/>
                </a:solidFill>
                <a:latin typeface="Aptos"/>
                <a:ea typeface="Aptos"/>
                <a:cs typeface="Aptos"/>
              </a:rPr>
              <a:t>INSWITCH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7B15AB-20DB-4F54-935B-E88C3544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532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966771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B79014-CAF4-4C73-B162-BCFED045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50306-31ED-4EB3-A6AB-067B6A12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THE DAILY OPERATING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6C073-786F-4C38-8023-90D33C6D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33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rPr>
              <a:t>Was the beneficiary credited, reversed, or still indeterminate?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BFF8F-1B09-43F6-BBDB-64DDD3E8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Every failed or delayed payout lands in one action state: prove credit, requery status, reverse safely, or reconcile the break.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99B34-5D7F-44F0-92FC-7A394FA8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9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7E3B3-7FDC-429D-BEEA-252D656A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2D2C6-8475-4A35-9656-62E209CD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Credited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C2E01-37FA-467B-ACC7-5FC35A3A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48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confirmed credit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01344-BA83-428C-9838-347F7427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194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E2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C3940-5096-42D7-A950-63ACAEC6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194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669EC-B384-463F-9A94-9B2A00CA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29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6251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6251B"/>
                </a:solidFill>
                <a:latin typeface="Aptos"/>
                <a:ea typeface="Aptos"/>
                <a:cs typeface="Aptos"/>
              </a:rPr>
              <a:t>Reverse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6769C-4136-4412-914E-CAAE308E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48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failed Instant EFT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C01D6-D974-4FF8-9170-0EDE7D4F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194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7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04838-2A4B-4576-83D3-975B5E4C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194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B429C-2968-4F75-AD99-DBC26B9D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29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690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6900"/>
                </a:solidFill>
                <a:latin typeface="Aptos"/>
                <a:ea typeface="Aptos"/>
                <a:cs typeface="Aptos"/>
              </a:rPr>
              <a:t>Requery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5B707-65C3-4268-A999-A11C8246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48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TSQ pending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7EFB8-1DE5-4404-9D29-FA7DCAD7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EF5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3ECCB-9556-4888-90AC-ABAAA326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53150-1118-41BB-B62F-DABEB260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577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577A"/>
                </a:solidFill>
                <a:latin typeface="Aptos"/>
                <a:ea typeface="Aptos"/>
                <a:cs typeface="Aptos"/>
              </a:rPr>
              <a:t>Reconcile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860D5-DD0A-40B7-9D1D-2D212CA9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48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settlement mismatch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6912BB-45EA-4617-9C28-C522BEFA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5413C6-5F98-4809-AFD5-322A419A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872"/>
                </a:solidFill>
                <a:latin typeface="Aptos"/>
                <a:ea typeface="Aptos"/>
                <a:cs typeface="Aptos"/>
              </a:rPr>
              <a:t>INSWITCH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85B504-7926-4DD0-8B25-7E49BA1A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532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367290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47407F-DDD3-49B5-9D10-C330E78B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DF60A-9E31-41CF-AFAB-62D4919D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NIP FINAL-LEG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0F1E6-826B-43E9-9476-E214FBEC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rPr>
              <a:t>INSWITCH monitors and controls the local credit leg after the bank instruction is received.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F522C-4D1D-4D10-ADB2-59232C9C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The bank gets one operating trail across Name Enquiry, Direct Credit, TSQ, reversal watch, and settlement report matching.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567FF-DF97-4EA5-901F-AF644D3F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638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8D665-F5BA-408E-B508-C9795989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0F916-F8C7-49C1-A6D3-E9F939A6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95675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IMTO / bank channel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682BA-DFA7-4C88-8D1D-3BE14A76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766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ED327-2903-4068-8BB4-AB4A2B9B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814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57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577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049A4-02F8-4F05-9E34-1B4CB2A9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C9D94-348E-43BB-B6FD-2ADD68F9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84E9F-67DE-434B-A38F-8E807AB8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95675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Name Enquiry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A9FE1-14C7-4833-B99B-4C1C6802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766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6BC0D-C486-4671-9670-FC80DCF4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814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ECAD5-6B68-4EB0-9A99-32F5966D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52800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18C09-5DDC-4BC0-A84E-6289B1A3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528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6578F-0C98-43F1-AAE5-798C7B6A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95675"/>
            <a:ext cx="1314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NIP Direct Credit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6B5AC0-D7A1-428C-B6E7-CA6AC471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766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98B960-06C0-42F2-82FD-4BD494FF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814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69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690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8B6176-97A3-4861-A6D2-1BEED497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528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E92CA1-1FB3-4A5A-9883-2829210C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528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085A42-2EF6-49A9-8549-F3794177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95675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69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900"/>
                </a:solidFill>
                <a:latin typeface="Aptos"/>
                <a:ea typeface="Aptos"/>
                <a:cs typeface="Aptos"/>
              </a:rPr>
              <a:t>TSQ / reversal watch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3315AB-CFAD-40E5-85C8-CABA21F3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766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6BA033-C6CE-46A3-8BE4-80654E01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5814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74D4EA-D9B6-44D9-8383-DA73489F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352800"/>
            <a:ext cx="1257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02A67E-2326-4A72-AC24-46FB17BC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3528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889441-DC8B-40D5-9A16-BEAC099B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95675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Settlement 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1AA9D5-B7BA-42C1-A6BA-1CC3ED77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F01198-680B-4BF5-A77C-924B8875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872"/>
                </a:solidFill>
                <a:latin typeface="Aptos"/>
                <a:ea typeface="Aptos"/>
                <a:cs typeface="Aptos"/>
              </a:rPr>
              <a:t>INSWITCH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92517C-7154-4ED3-8920-F3115988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532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95869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0716FF-7242-4C0A-B1B6-EAF93A32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A630B-02E3-46C1-B6B7-019AC716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EXCEPTION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F1F54-22BA-48E1-AA3C-96C20E47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rPr>
              <a:t>Queues should match the words operators use during payment exceptions.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5E1A0-B8C1-45AB-9F75-EF23F646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E2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4C316-05AB-4300-A450-5D3E20D2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4C123-0538-426F-A504-123211C3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86075"/>
            <a:ext cx="2076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25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251B"/>
                </a:solidFill>
                <a:latin typeface="Aptos"/>
                <a:ea typeface="Aptos"/>
                <a:cs typeface="Aptos"/>
              </a:rPr>
              <a:t>Debit posted; no beneficiary credit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F54F0-84B9-4BFC-972A-8873BD7A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4320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7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09578-3241-4EF7-BC65-7332CC97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432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BEDCA-F2AD-4AA4-961E-CD59E1B9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86075"/>
            <a:ext cx="2076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69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900"/>
                </a:solidFill>
                <a:latin typeface="Aptos"/>
                <a:ea typeface="Aptos"/>
                <a:cs typeface="Aptos"/>
              </a:rPr>
              <a:t>Delayed inward NIP beyond 4 minutes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F5154-7D7B-4108-87BD-72E44A9E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EF5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5A19A-DE3A-4FF9-80C1-EDBC274D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29798-3122-4487-975B-F5DC80DE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86075"/>
            <a:ext cx="1790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57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577A"/>
                </a:solidFill>
                <a:latin typeface="Aptos"/>
                <a:ea typeface="Aptos"/>
                <a:cs typeface="Aptos"/>
              </a:rPr>
              <a:t>TSQ response pending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8EF45-C0FB-47DD-AA68-79516F4F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E2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1DE1C-1552-4566-8B4B-788C060A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B3455A-6E03-4DFE-A31C-CFB265D7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86075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25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251B"/>
                </a:solidFill>
                <a:latin typeface="Aptos"/>
                <a:ea typeface="Aptos"/>
                <a:cs typeface="Aptos"/>
              </a:rPr>
              <a:t>Reversal due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F487F-623F-4049-9B4A-509AA0A9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3860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6A22A-B31E-41A9-A316-0D386ACE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386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84EF8-43B7-4A2E-AB97-FF0B0122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81475"/>
            <a:ext cx="2076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Settlement report mismatch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C5BA66-7C9A-47AD-BC3B-2D2351D5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386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7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0DD492-FAEB-4B77-98E5-ED3BF104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386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89B9B1-3676-42D2-A624-05B8659E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81475"/>
            <a:ext cx="1790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69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900"/>
                </a:solidFill>
                <a:latin typeface="Aptos"/>
                <a:ea typeface="Aptos"/>
                <a:cs typeface="Aptos"/>
              </a:rPr>
              <a:t>Duplicate credit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3D977F-D97A-46AD-9A25-87FB15C4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38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EF5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0327BD-F758-4462-BABA-754AD37D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386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C09E91-F2F1-4ACB-B107-49DE841D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81475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57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577A"/>
                </a:solidFill>
                <a:latin typeface="Aptos"/>
                <a:ea typeface="Aptos"/>
                <a:cs typeface="Aptos"/>
              </a:rPr>
              <a:t>Chargeback open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0ED291-CEF9-447A-A154-5A315C6C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29250"/>
            <a:ext cx="666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rPr>
              <a:t>Each status points to the next permissible bank action.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895538-8AAA-4429-8FC9-AEFFA90A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347D15-F856-4EA8-8329-C2BCB20E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872"/>
                </a:solidFill>
                <a:latin typeface="Aptos"/>
                <a:ea typeface="Aptos"/>
                <a:cs typeface="Aptos"/>
              </a:rPr>
              <a:t>INSWITCH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C47391-E9F3-47FC-841A-C23A4977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532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936007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56F6E5-E1FE-4AC8-B312-D9E9D21C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D7E2C-E903-4329-88BB-9EE6373D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EVIDENCE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ED80F-C3AF-4B4A-B6B5-40BA471C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rPr>
              <a:t>Closure requires evidence a Nigerian dispute desk can defend.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03ADB-E82D-4411-ACEE-561C20D5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No payout is closed or reversed without the references Operations, Reconciliation, and Customer Experience will ask for.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31C05-C888-45F3-9E34-6E55C67A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F1ACF-1256-4ABE-AC45-244D03AC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A78CE-954D-438D-BA33-8ACBC50D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48025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NIP Session 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D1D0F-D35B-432D-9919-CA9D528B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B26D5-22B9-410B-A2F5-0943E7D0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35088-55D5-43C0-99BE-08918695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48025"/>
            <a:ext cx="1219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69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900"/>
                </a:solidFill>
                <a:latin typeface="Aptos"/>
                <a:ea typeface="Aptos"/>
                <a:cs typeface="Aptos"/>
              </a:rPr>
              <a:t>TSQ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83688-CD57-44A0-A063-61B57AB4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051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E6B78-D03D-4B9E-A44A-572A1201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051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8FBB8-67C2-4940-A129-6DECA202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48025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Receiving Entity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2304C-D8B6-443E-9BEA-19A65899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181B0-373B-49F9-8179-A7681377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9F8E0-ECE4-4998-A053-5067AC9A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48025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Core ledger posting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096BA-49FD-4AF1-B088-8C3890CB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051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64E29-1DE0-428A-9A60-DA9AFC73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051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EB3F4E-E62E-4B92-9FA0-ED187EFB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4802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T+1 settlement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B2D67-E18A-4C74-AF49-7AFCC7B5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96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600FB-FF87-48FC-9E61-2675F091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96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4E6F3-36A7-4E61-834F-551B0B8D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62475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25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251B"/>
                </a:solidFill>
                <a:latin typeface="Aptos"/>
                <a:ea typeface="Aptos"/>
                <a:cs typeface="Aptos"/>
              </a:rPr>
              <a:t>NIBSS reversal report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CC1E96-9C63-4AD4-8839-58FFA192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96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B0B688-90B0-46A2-8B33-780622F4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96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01CB32-A49F-4CD5-B427-AF77AE10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62475"/>
            <a:ext cx="140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Operator reason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53D353-CAD4-4416-A091-F6B4A444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A0F3AC-A848-4AB8-B989-1550FD0F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872"/>
                </a:solidFill>
                <a:latin typeface="Aptos"/>
                <a:ea typeface="Aptos"/>
                <a:cs typeface="Aptos"/>
              </a:rPr>
              <a:t>INSWITCH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01BC15-0EB1-47C5-8768-25EEF255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532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05439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DC2856-CCF6-4683-B513-CCBFF805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A1754-5207-4AF6-950E-191107F0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CBN-ALIGNED CLOCKS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5AF7E-39C2-467B-9415-83892BD6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rPr>
              <a:t>Payment Operations needs the timers that decide escalation, reversal, and customer communication.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B0016-3CD2-4CE8-88D8-95B2B97E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The operating clock tracks failed NIP reversal, delayed inward NIP, T+1 settlement reports, and daily NIBSS reversal reports.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4BC76-8493-442B-B6A3-E4057129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E2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617B7-4161-40EA-8F75-2DA1FC7B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B91EF-FB92-44A8-927B-04E5B473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6251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6251B"/>
                </a:solidFill>
                <a:latin typeface="Aptos"/>
                <a:ea typeface="Aptos"/>
                <a:cs typeface="Aptos"/>
              </a:rPr>
              <a:t>24h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F5758-7526-4167-B3A7-9B238826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433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failed NIP reversal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D1602-023B-4332-AC42-837DCDDD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147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7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BACBB-B81A-4C0A-918C-D47ECAC1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147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94CE0-391A-4096-8886-49033E37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242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690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6900"/>
                </a:solidFill>
                <a:latin typeface="Aptos"/>
                <a:ea typeface="Aptos"/>
                <a:cs typeface="Aptos"/>
              </a:rPr>
              <a:t>&gt;4m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3D93F-8479-4B26-9F08-5B6DB601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433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delayed inward NIP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4C569-D79F-47BD-8717-1866E0C0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EF5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5C74E-C1A7-45D0-B5FB-1D268E6A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D4201-C3EF-4AED-BAA4-9AA3E9C0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577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577A"/>
                </a:solidFill>
                <a:latin typeface="Aptos"/>
                <a:ea typeface="Aptos"/>
                <a:cs typeface="Aptos"/>
              </a:rPr>
              <a:t>T+1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62D09-DA5E-468B-A304-3DC8B965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433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settlement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4B5B5-5CC8-47E8-A878-7CB03B36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147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9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A92DB-2F0C-4072-A3BF-587CFFC4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147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FDA55-35C7-4062-A8D2-DCC99ECB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242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10pm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FCC154-C196-4747-87C1-1C9BEB32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433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reversal 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6BFF74-D27F-48AB-B6BA-57129102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D3500-2ED3-41F3-B0E1-321D9CCD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872"/>
                </a:solidFill>
                <a:latin typeface="Aptos"/>
                <a:ea typeface="Aptos"/>
                <a:cs typeface="Aptos"/>
              </a:rPr>
              <a:t>INSWITCH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C866B6-DD34-483F-9A2B-7DCED54F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532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93135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53766F-BA64-41EE-8A54-38D7893E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0992A-C1F5-4D4A-9F2A-2FC29BE7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SETTLEMENT SESSIONS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EF5FB-013F-4696-BB7E-8D00D729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rPr>
              <a:t>NIP settlement belongs to named 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890AD-8518-4287-8531-6A5B745F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Each exception should be tied to its Deferred Net Settlement session before closure or escalation.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6202B-EB52-4ABD-933B-21A43C1B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766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EF5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0D0EB-B0F3-4B26-BC15-4056CFB8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766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D82DB-178E-44B0-BD8C-5AC1858D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86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577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577A"/>
                </a:solidFill>
                <a:latin typeface="Aptos"/>
                <a:ea typeface="Aptos"/>
                <a:cs typeface="Aptos"/>
              </a:rPr>
              <a:t>2am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65ECB-76EE-4CFF-A78D-38B5DBF5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052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first DNS cut-off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CDAED-8276-40BF-B9C8-0C951226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766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EF5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A4B17-93F1-4AE6-814B-92C6FFE5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766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9394F-4836-4193-8340-96C29539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86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577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577A"/>
                </a:solidFill>
                <a:latin typeface="Aptos"/>
                <a:ea typeface="Aptos"/>
                <a:cs typeface="Aptos"/>
              </a:rPr>
              <a:t>2pm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A53C9-F301-49EE-B6C1-524BCCC7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052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second DNS cut-off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F9E94-F919-4A6C-8C90-587F44A0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766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9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13B4A-CE6C-4389-83D0-33B789FE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766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A3CD0-12AE-4B84-BECE-20459878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session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C9462-1DC2-4865-9213-C00E3E59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052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case matching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25C02-D4AF-436D-8057-6D98CCA7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40444-D8D4-4FB0-AC8E-F636AC97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872"/>
                </a:solidFill>
                <a:latin typeface="Aptos"/>
                <a:ea typeface="Aptos"/>
                <a:cs typeface="Aptos"/>
              </a:rPr>
              <a:t>INSWITCH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E2103-758C-4487-B10A-BC46BB5F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532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72216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7F8FD7-0A3B-4709-A4FD-5C3C17BB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3B497-0272-4C2E-A364-ED789094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INBOUND REMITTANCE PAYOUT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9FFB4-545D-47A3-9018-19F87E43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rPr>
              <a:t>INSWITCH gives the bank control of the Nigerian final leg after the remittance instruction.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B92ED-605D-4DF4-B66A-306F6303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The customer promise is complete only when the Nigerian beneficiary is credited or the reversal path is clean.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887D0-D707-4E67-A2FE-896D37B5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7C6BE-0748-495E-AD00-5890863D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9DF64-F69B-497C-9FAE-599DBBDB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71875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IMTO instruction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351EB-EE19-429B-A9E0-9BD242EC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623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FF1E5-7002-4785-8049-70C3CCBD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671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57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577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FE33E-AAF3-4044-8F53-90518107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290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8BFF7-E078-420F-B92E-068DB61B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290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AB2A1-CA52-4046-9606-307FA595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71875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Bank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3785F-64BF-4DC6-95B6-FC9CBD06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623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26C66-82B0-4D10-A6AF-FE642D13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671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DAE2E-44BD-41B2-BC72-230B6A2D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290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588EF-067E-486B-87C6-87C28A76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290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66CDD-052E-4E15-A466-0AF92931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71875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NIP / local provider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BB7AB-C182-47C5-B616-EF75C54A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623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388E5D-90A7-4347-B9C0-E1256299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671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AD3B3-FB30-4214-A492-8541C8F7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290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AED5F-E100-4B48-A35F-9DC6C9BD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290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6C59C-8A05-4680-A857-8E4939A4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71875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Beneficiary credit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CEA975-FCAE-4ED4-8330-3411746A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AC43E1-0B3B-410A-B1A7-EAEA1D5E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872"/>
                </a:solidFill>
                <a:latin typeface="Aptos"/>
                <a:ea typeface="Aptos"/>
                <a:cs typeface="Aptos"/>
              </a:rPr>
              <a:t>INSWITCH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0E232E-A0B1-4254-A2C7-A4BDE262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532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66696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A08008-DA00-4BEE-A5DB-483970AA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sE4BFD-7D69-4AE5-8E38-CDEF0C9B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8052s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8052s"/>
                </a:solidFill>
                <a:latin typeface="Aptos"/>
                <a:ea typeface="Aptos"/>
                <a:cs typeface="Aptos"/>
              </a:rPr>
              <a:t>LOCAL PROVIDER RANKING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46F38-8B4C-4D3F-8D1B-3A6612C2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rPr>
              <a:t>Moniepoint is the preferred local provider in this window.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F086s1-CB5F-4C2A-A5AF-0F7814F8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It is outperforming NIP, Interswitch, and Paystack on P95 credit time, timeout rate, and open repair cases.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DE6A7-F65A-4E32-A31F-F5E3DD91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766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Moniepoint P95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D6227-B8A0-4A35-AAF2-FC1CCD24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s850" y="3324225"/>
            <a:ext cx="4953000" cy="952s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1F3DF-EC3D-4F5A-9695-D73ED86s8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s850" y="3324225"/>
            <a:ext cx="4347633" cy="952s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5572B-BA25-448C-B55E-A02E34FF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41s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E6BAD-62A2-413A-BB27-9F2A5A67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1s0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Interswitch P95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D4191-5C03-4B29-897C-A3EE3C5D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s850" y="3838575"/>
            <a:ext cx="4953000" cy="952s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AD92E-F138-4352s-A388-6C2C1BF86s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s850" y="3838575"/>
            <a:ext cx="2861733" cy="952s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s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11821-C59B-4605-A5DE-BB3E372A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1s09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52s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317EA-3A41s-4E7D-B2D4-769087AC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05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Paystack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8FC28-8744-4FAF-9C6D-AA3ACDD5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s850" y="4352s925"/>
            <a:ext cx="4953000" cy="952s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90AA0-334E-45B9-A0D8-D35C4BC9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s850" y="4352s925"/>
            <a:ext cx="352s2133" cy="952s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E2BCD-3D01-4007-A4EA-86s3D4EB2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053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86s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3303C-76DC-4588-9950-A60BFA152s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004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9"/>
          </a:solidFill>
          <a:ln xmlns:a="http://schemas.openxmlformats.org/drawingml/2006/main" w="952s5">
            <a:solidFill>
              <a:srgbClr val="078052s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95E73-6EED-49F2-852sC-727F3C3C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14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s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D1D75-C8A7-4CE2-9C5C-8AD78409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86125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8052s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8052s"/>
                </a:solidFill>
                <a:latin typeface="Aptos"/>
                <a:ea typeface="Aptos"/>
                <a:cs typeface="Aptos"/>
              </a:rPr>
              <a:t>best now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230E89-A5E8-4743-9D66-A3781ECE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71475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E2"/>
          </a:solidFill>
          <a:ln xmlns:a="http://schemas.openxmlformats.org/drawingml/2006/main" w="952s5">
            <a:solidFill>
              <a:srgbClr val="C6251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7049EB-FE02-4F2B-8003-A92BE6D8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29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18146D-3A9C-4A75-A054-DDB9C32F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800475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625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6251B"/>
                </a:solidFill>
                <a:latin typeface="Aptos"/>
                <a:ea typeface="Aptos"/>
                <a:cs typeface="Aptos"/>
              </a:rPr>
              <a:t>healthy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B9FD97-1A09-4BEF-A85A-48268FC5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2291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7"/>
          </a:solidFill>
          <a:ln xmlns:a="http://schemas.openxmlformats.org/drawingml/2006/main" w="952s5">
            <a:solidFill>
              <a:srgbClr val="B469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6FE5E3-6652s-4F3C-8313-48C0FC86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43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0B18EA-62E0-4341s-A5D1-985AADA6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314825"/>
            <a:ext cx="533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69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46900"/>
                </a:solidFill>
                <a:latin typeface="Aptos"/>
                <a:ea typeface="Aptos"/>
                <a:cs typeface="Aptos"/>
              </a:rPr>
              <a:t>watch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6s77ABA-38E4-4E9C-B68D-9235C6F5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s00800"/>
            <a:ext cx="10972800" cy="952s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2229F3-9EC8-4339-BB55-E1B09C73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872"/>
                </a:solidFill>
                <a:latin typeface="Aptos"/>
                <a:ea typeface="Aptos"/>
                <a:cs typeface="Aptos"/>
              </a:rPr>
              <a:t>INSWITCH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ABB071-AC00-4B9C-9460-C9BF165C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532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613132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57E261-71B5-4AB7-B490-03BE720C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D5399-457B-4D18-B70F-F32381FE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DAY IN PAYMENT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07916-7C43-4D9A-8028-47AE93F2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rPr>
              <a:t>A productive shift starts with failed NIP, TSQ, settlement, and reversal queues.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D9A04-F11D-4DDF-81E0-2F8E934F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4E2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92002-F543-40BA-820C-0B510E87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58787-AD4D-40DF-9B77-4C2FA533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24175"/>
            <a:ext cx="2076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625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6251B"/>
                </a:solidFill>
                <a:latin typeface="Aptos"/>
                <a:ea typeface="Aptos"/>
                <a:cs typeface="Aptos"/>
              </a:rPr>
              <a:t>08:00</a:t>
            </a:r>
          </a:p>
          <a:p xmlns:a="http://schemas.openxmlformats.org/drawingml/2006/main">
            <a:pPr algn="l">
              <a:defRPr sz="1200" b="1">
                <a:solidFill>
                  <a:srgbClr val="C625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6251B"/>
                </a:solidFill>
                <a:latin typeface="Aptos"/>
                <a:ea typeface="Aptos"/>
                <a:cs typeface="Aptos"/>
              </a:rPr>
              <a:t>Review failed NIP and reversal-due queues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8DFD9-3972-4A12-970D-56A6338D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EF5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1111E-9FF4-4F08-826C-F041C906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709A7-3120-4DC5-8690-A51E2E74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24175"/>
            <a:ext cx="2076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57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577A"/>
                </a:solidFill>
                <a:latin typeface="Aptos"/>
                <a:ea typeface="Aptos"/>
                <a:cs typeface="Aptos"/>
              </a:rPr>
              <a:t>10:00</a:t>
            </a:r>
          </a:p>
          <a:p xmlns:a="http://schemas.openxmlformats.org/drawingml/2006/main">
            <a:pPr algn="l">
              <a:defRPr sz="1200" b="1">
                <a:solidFill>
                  <a:srgbClr val="2257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577A"/>
                </a:solidFill>
                <a:latin typeface="Aptos"/>
                <a:ea typeface="Aptos"/>
                <a:cs typeface="Aptos"/>
              </a:rPr>
              <a:t>Run TSQ and attach Session ID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48249-3C9B-4497-93C4-806A96D2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7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85CA1-5020-4C7F-9822-97DCB5CF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CF835-FA4D-40EA-AE42-DCA6125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24175"/>
            <a:ext cx="2076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69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900"/>
                </a:solidFill>
                <a:latin typeface="Aptos"/>
                <a:ea typeface="Aptos"/>
                <a:cs typeface="Aptos"/>
              </a:rPr>
              <a:t>13:00</a:t>
            </a:r>
          </a:p>
          <a:p xmlns:a="http://schemas.openxmlformats.org/drawingml/2006/main">
            <a:pPr algn="l">
              <a:defRPr sz="1200" b="1">
                <a:solidFill>
                  <a:srgbClr val="B469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900"/>
                </a:solidFill>
                <a:latin typeface="Aptos"/>
                <a:ea typeface="Aptos"/>
                <a:cs typeface="Aptos"/>
              </a:rPr>
              <a:t>Match cases to settlement session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79026-5A53-4D5E-BCD7-FF1530FF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813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9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FD8DF-96A9-4582-A206-A231E8DC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813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452A6-FA21-48C7-B3A2-FA072C68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24175"/>
            <a:ext cx="2076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16:00</a:t>
            </a:r>
          </a:p>
          <a:p xmlns:a="http://schemas.openxmlformats.org/drawingml/2006/main">
            <a:pPr algn="l">
              <a:defRPr sz="120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Checker approves reversal or closure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69826-2FB3-4794-9FC3-1AFC9D48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B6B84-2901-4DED-B657-2C458173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872"/>
                </a:solidFill>
                <a:latin typeface="Aptos"/>
                <a:ea typeface="Aptos"/>
                <a:cs typeface="Aptos"/>
              </a:rPr>
              <a:t>INSWITCH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7D39A8-FB12-4E04-8A59-EA390B02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532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27405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4B6665-DF18-48FB-BA97-3BB9D18D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03BD2-BE23-45FE-8ABD-6C5B6FD2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MARIADB RECORD SPINE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0CEF0-3AE9-49AC-9DC4-15F325EE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7110E"/>
                </a:solidFill>
                <a:latin typeface="Aptos Display"/>
                <a:ea typeface="Aptos Display"/>
                <a:cs typeface="Aptos Display"/>
              </a:rPr>
              <a:t>Every screen writes to the payment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032F5-1B36-4869-91C6-B9510A23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The bank sees familiar payment language; the platform keeps the audit, reconciliation, and dispute trail complete.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EAD95-E006-4D83-AC75-FCAD3FD4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1797C-FBA3-4A5A-9758-139A4D58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5A1A8-0081-41F4-99D6-70015AC5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48025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incoming_instructions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388EC-99D2-494D-A72D-6FD5C745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909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2D6D7-64D3-4384-9DCC-E97EE8DD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956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57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577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29201-905F-4464-8387-EA1BAAFD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05150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B7F17-572A-47BD-8207-E43B5E78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051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9DDA6-67C9-45DB-84D2-3DE93A4F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48025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route_decisions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DEDB5-B3E1-482E-A8B3-106C9661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909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E3958-5E0F-4D9D-978B-AE09B981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956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69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690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0AC08-33B4-41E8-9BD7-3589DDB2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051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34BEF-3203-4AFA-BBD3-2618451C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051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0DB2F-978E-44CC-B3C6-0E8A6A26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48025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final_leg_attempts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37265-EF69-4C3C-933D-2714D17F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909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FE0554-1D7D-4C03-A44D-8D081B75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956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69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690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FEDD4-3DFA-4FCE-A2E2-2009D486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1BE90C-B345-44F0-AE3C-CE9E1140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2A80E-F08C-4C6C-AEB2-FD804229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4802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provider_calls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480BC6-2DCC-4934-B328-961A14A8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62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5CACB1-6C34-4FEB-A518-B7CD5C79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624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D0CD4D-35E6-404D-8BEB-060B45EE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05325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625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6251B"/>
                </a:solidFill>
                <a:latin typeface="Aptos"/>
                <a:ea typeface="Aptos"/>
                <a:cs typeface="Aptos"/>
              </a:rPr>
              <a:t>outcome_evidence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48C0DC-F10C-4F40-AFC9-1101EAA0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482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9E5156-B3B6-4CB3-97B5-2E9C4B97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529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25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6251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D53EE0-2903-4EAE-B009-D005BE45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6245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40DB0A-D5A0-45E4-8F22-249F0D89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624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5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874D64-8C32-4C2C-AE0F-55421ACB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05325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625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6251B"/>
                </a:solidFill>
                <a:latin typeface="Aptos"/>
                <a:ea typeface="Aptos"/>
                <a:cs typeface="Aptos"/>
              </a:rPr>
              <a:t>remediation_cases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04F5A0-9CD9-402E-85DD-81A9DDD1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B5E7EA-13CD-4915-B24C-7F141B4C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529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78F055-9562-4DC8-8372-979A30CB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62450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E77F4A-1D0E-47E7-9D3C-30562FE6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624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A6936C-096F-4C77-811C-D19845D4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05325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reconciliation_matches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DDC603-7D67-437C-B38C-35477623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624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FC362A-58CC-43A0-95E1-82AE796B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624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C6407C-2836-46CB-9DDB-5B70C49E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0532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80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8052"/>
                </a:solidFill>
                <a:latin typeface="Aptos"/>
                <a:ea typeface="Aptos"/>
                <a:cs typeface="Aptos"/>
              </a:rPr>
              <a:t>audit_events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9CFC3A-C21D-4684-B2AF-DB22FD1F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3495DC-B104-4A5E-8240-4EE952BA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872"/>
                </a:solidFill>
                <a:latin typeface="Aptos"/>
                <a:ea typeface="Aptos"/>
                <a:cs typeface="Aptos"/>
              </a:rPr>
              <a:t>INSWITCH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7FFB3B-15C6-4E8D-BB2A-F73E119B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532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D68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2169850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40F39D-872E-4A99-895A-B8CD1DB1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F2BFA-B71A-4F20-A95B-1FDC7AE5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685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operators see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DCAF1-BA79-449A-961D-19F8169D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609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8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8D0"/>
                </a:solidFill>
                <a:latin typeface="Aptos"/>
                <a:ea typeface="Aptos"/>
                <a:cs typeface="Aptos"/>
              </a:rPr>
              <a:t>The appendix shows the operating flow: command center, exception queue, transaction evidence, route pressure, and integration health.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E76BC-5BDB-48BF-8647-D22EB58F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A"/>
          </a:solidFill>
          <a:ln xmlns:a="http://schemas.openxmlformats.org/drawingml/2006/main" w="9525">
            <a:solidFill>
              <a:srgbClr val="315B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42B13-5FC4-4045-A496-47698DE4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C7BD7-C5AE-4DB5-85CB-9394F09F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76575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imsi.cloudspacetechs.com</a:t>
            </a:r>
          </a:p>
        </p:txBody>
      </p:sp>
    </p:spTree>
    <p:extLst>
      <p:ext uri="{BB962C8B-B14F-4D97-AF65-F5344CB8AC3E}">
        <p14:creationId xmlns:p14="http://schemas.microsoft.com/office/powerpoint/2010/main" val="35555648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D9C34A-FCAC-4A2D-9405-0571D03F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8a3eeb5af4021"/>
          <a:stretch xmlns:a="http://schemas.openxmlformats.org/drawingml/2006/main"/>
        </p:blipFill>
        <p:spPr>
          <a:xfrm xmlns:a="http://schemas.openxmlformats.org/drawingml/2006/main">
            <a:off x="1032933" y="685800"/>
            <a:ext cx="10126133" cy="56959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174EA-EA03-48F3-A9C1-D05BEA5A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D3806-B802-4E49-A117-F8E8B9B4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B0955-2376-4B08-B9F6-D8FBC647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Command Center</a:t>
            </a:r>
          </a:p>
        </p:txBody>
      </p:sp>
    </p:spTree>
    <p:extLst>
      <p:ext uri="{BB962C8B-B14F-4D97-AF65-F5344CB8AC3E}">
        <p14:creationId xmlns:p14="http://schemas.microsoft.com/office/powerpoint/2010/main" val="19763316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137FDB-A00D-4293-B90E-D3A598C9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6b9889cc24c9a"/>
          <a:stretch xmlns:a="http://schemas.openxmlformats.org/drawingml/2006/main"/>
        </p:blipFill>
        <p:spPr>
          <a:xfrm xmlns:a="http://schemas.openxmlformats.org/drawingml/2006/main">
            <a:off x="1032933" y="685800"/>
            <a:ext cx="10126133" cy="56959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9D31A-26DC-4ED8-8F03-2868B9A4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9F4A3-6A59-44E8-B9E3-B0ED5087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AC50A-123A-4B8E-A2AE-4C6FB620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Exception queue</a:t>
            </a:r>
          </a:p>
        </p:txBody>
      </p:sp>
    </p:spTree>
    <p:extLst>
      <p:ext uri="{BB962C8B-B14F-4D97-AF65-F5344CB8AC3E}">
        <p14:creationId xmlns:p14="http://schemas.microsoft.com/office/powerpoint/2010/main" val="157931916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66BF68-EE06-4265-832C-1A0BB762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861d35b4f4f0b"/>
          <a:stretch xmlns:a="http://schemas.openxmlformats.org/drawingml/2006/main"/>
        </p:blipFill>
        <p:spPr>
          <a:xfrm xmlns:a="http://schemas.openxmlformats.org/drawingml/2006/main">
            <a:off x="1032933" y="685800"/>
            <a:ext cx="10126133" cy="56959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1C535-62F6-4FC7-817C-9A639A19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B6B58-ECAF-419F-A0AE-A2BE1D58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56A20-960C-4272-8D87-601945A8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Transaction workspace</a:t>
            </a:r>
          </a:p>
        </p:txBody>
      </p:sp>
    </p:spTree>
    <p:extLst>
      <p:ext uri="{BB962C8B-B14F-4D97-AF65-F5344CB8AC3E}">
        <p14:creationId xmlns:p14="http://schemas.microsoft.com/office/powerpoint/2010/main" val="152645620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880719-1E94-452C-8EC2-8C028A0A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eacac9b1c4520"/>
          <a:stretch xmlns:a="http://schemas.openxmlformats.org/drawingml/2006/main"/>
        </p:blipFill>
        <p:spPr>
          <a:xfrm xmlns:a="http://schemas.openxmlformats.org/drawingml/2006/main">
            <a:off x="1032933" y="685800"/>
            <a:ext cx="10126133" cy="56959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70E15-A573-476A-8871-AF963E0C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B396C-5E72-4F51-93B1-84762988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4B5B8-8582-4FFC-9608-04E190BB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Route pressure</a:t>
            </a:r>
          </a:p>
        </p:txBody>
      </p:sp>
    </p:spTree>
    <p:extLst>
      <p:ext uri="{BB962C8B-B14F-4D97-AF65-F5344CB8AC3E}">
        <p14:creationId xmlns:p14="http://schemas.microsoft.com/office/powerpoint/2010/main" val="56853065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A6160B-A700-4FFE-8B77-1B3BE9B7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f1309f6a94292"/>
          <a:stretch xmlns:a="http://schemas.openxmlformats.org/drawingml/2006/main"/>
        </p:blipFill>
        <p:spPr>
          <a:xfrm xmlns:a="http://schemas.openxmlformats.org/drawingml/2006/main">
            <a:off x="1032933" y="685800"/>
            <a:ext cx="10126133" cy="56959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DE022-9239-40C7-8DFC-5DA93B0B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98B4D-FCE0-4801-91DE-6A1433FC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7EACA-EA3A-426F-BAA9-1B06A527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0E"/>
                </a:solidFill>
                <a:latin typeface="Aptos"/>
                <a:ea typeface="Aptos"/>
                <a:cs typeface="Aptos"/>
              </a:rPr>
              <a:t>Integration health</a:t>
            </a:r>
          </a:p>
        </p:txBody>
      </p:sp>
    </p:spTree>
    <p:extLst>
      <p:ext uri="{BB962C8B-B14F-4D97-AF65-F5344CB8AC3E}">
        <p14:creationId xmlns:p14="http://schemas.microsoft.com/office/powerpoint/2010/main" val="22609201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Nd xmlns:a16="http://schemas.microsoft.com/office/drawing/2014/main" id="{4A229024-9ACA-4AD1-8ACD-60F7B64D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2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Nd xmlns:a16="http://schemas.microsoft.com/office/drawing/2014/main" id="{CBD96F85-5AE2-44A8-A849-26B2B676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23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Nns="0" tNns="0" rNns="0" bN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Thank you.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Nd xmlns:a16="http://schemas.microsoft.com/office/drawing/2014/main" id="{A3F12D75-3D87-4A6C-B0CF-D8D77CE1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Nns="0" tNns="0" rNns="0" bN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NNSWNTCH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Nd xmlns:a16="http://schemas.microsoft.com/office/drawing/2014/main" id="{40620501-1EB0-4728-8020-5F6C8E95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Nns="0" tNns="0" rNns="0" bN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8D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8D8D0"/>
                </a:solidFill>
                <a:latin typeface="Aptos"/>
                <a:ea typeface="Aptos"/>
                <a:cs typeface="Aptos"/>
              </a:rPr>
              <a:t>NNP exception operations for Nigerian banks.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Nd xmlns:a16="http://schemas.microsoft.com/office/drawing/2014/main" id="{72C6D5C2-1191-4E2B-A7F0-9A668F83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A"/>
          </a:solidFill>
          <a:ln xmlns:a="http://schemas.openxmlformats.org/drawingml/2006/main" w="9525">
            <a:solidFill>
              <a:srgbClr val="315B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Nd xmlns:a16="http://schemas.microsoft.com/office/drawing/2014/main" id="{BBDC3EC9-A657-4223-BC55-F2FDD86D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0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Nd xmlns:a16="http://schemas.microsoft.com/office/drawing/2014/main" id="{431FE4EA-F044-4531-9700-E39DA9D8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48175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Nns="0" tNns="0" rNns="0" bN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imsi.cloudspacetechs.com</a:t>
            </a:r>
          </a:p>
        </p:txBody>
      </p:sp>
    </p:spTree>
    <p:extLst>
      <p:ext uri="{BB962C8B-B14F-4D97-AF65-F5344CB8AC3E}">
        <p14:creationNd xmlns:p14="http://schemas.microsoft.com/office/powerpoint/2010/main" val="1273776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2026-06-03T22:57:45.4190000Z</dcterms:created>
  <dcterms:modified xsi:type="dcterms:W3CDTF">2026-06-03T22:57:45.4190000Z</dcterms:modified>
</coreProperties>
</file>