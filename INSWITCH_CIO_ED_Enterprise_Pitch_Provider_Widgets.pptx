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63ef962549248aa" Type="http://schemas.openxmlformats.org/package/2006/relationships/metadata/core-properties" Target="docProps/core.xml"/><Relationship Id="R6ed98b7c1d2a4e77" Type="http://schemas.openxmlformats.org/officeDocument/2006/relationships/officeDocument" Target="ppt/presentation.xml"/><Relationship Id="R97c3649f2da940ae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4e04cef4d94b80"/>
  </p:sldMasterIdLst>
  <p:notesMasterIdLst>
    <p:notesMasterId xmlns:r="http://schemas.openxmlformats.org/officeDocument/2006/relationships" r:id="Ra774807987b24fcc"/>
  </p:notesMasterIdLst>
  <p:sldIdLst>
    <p:sldId xmlns:r="http://schemas.openxmlformats.org/officeDocument/2006/relationships" id="256" r:id="Re24a998136c44b62"/>
    <p:sldId xmlns:r="http://schemas.openxmlformats.org/officeDocument/2006/relationships" id="257" r:id="Redd1a8b8e2b04357"/>
    <p:sldId xmlns:r="http://schemas.openxmlformats.org/officeDocument/2006/relationships" id="258" r:id="R6baf75d502e94d47"/>
    <p:sldId xmlns:r="http://schemas.openxmlformats.org/officeDocument/2006/relationships" id="259" r:id="R69ddce484f73407a"/>
    <p:sldId xmlns:r="http://schemas.openxmlformats.org/officeDocument/2006/relationships" id="260" r:id="Reff82c39804f43e0"/>
    <p:sldId xmlns:r="http://schemas.openxmlformats.org/officeDocument/2006/relationships" id="261" r:id="R860e17b10d7b49cd"/>
    <p:sldId xmlns:r="http://schemas.openxmlformats.org/officeDocument/2006/relationships" id="262" r:id="Rb88abc61b89c494a"/>
    <p:sldId xmlns:r="http://schemas.openxmlformats.org/officeDocument/2006/relationships" id="263" r:id="Red18528c866844cf"/>
    <p:sldId xmlns:r="http://schemas.openxmlformats.org/officeDocument/2006/relationships" id="264" r:id="Rffea2db2a4204e8b"/>
    <p:sldId xmlns:r="http://schemas.openxmlformats.org/officeDocument/2006/relationships" id="265" r:id="R85416d0b25934a3a"/>
    <p:sldId xmlns:r="http://schemas.openxmlformats.org/officeDocument/2006/relationships" id="266" r:id="Raa86ad3eda274cb7"/>
    <p:sldId xmlns:r="http://schemas.openxmlformats.org/officeDocument/2006/relationships" id="267" r:id="R56a8c34eabae41e4"/>
    <p:sldId xmlns:r="http://schemas.openxmlformats.org/officeDocument/2006/relationships" id="268" r:id="R128c18fbe8eb49f2"/>
    <p:sldId xmlns:r="http://schemas.openxmlformats.org/officeDocument/2006/relationships" id="269" r:id="R1d0b95f9ca0c48b5"/>
    <p:sldId xmlns:r="http://schemas.openxmlformats.org/officeDocument/2006/relationships" id="270" r:id="R4fd8b5da0a564af1"/>
    <p:sldId xmlns:r="http://schemas.openxmlformats.org/officeDocument/2006/relationships" id="271" r:id="R526e829c93f242ac"/>
    <p:sldId xmlns:r="http://schemas.openxmlformats.org/officeDocument/2006/relationships" id="272" r:id="Re5e107a248724c4d"/>
    <p:sldId xmlns:r="http://schemas.openxmlformats.org/officeDocument/2006/relationships" id="273" r:id="R846995dba7bf46cd"/>
    <p:sldId xmlns:r="http://schemas.openxmlformats.org/officeDocument/2006/relationships" id="274" r:id="R390e6e0854e244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128c18fbe8eb49f2" Type="http://schemas.openxmlformats.org/officeDocument/2006/relationships/slide" Target="slides/slide13.xml"/><Relationship Id="R1d0b95f9ca0c48b5" Type="http://schemas.openxmlformats.org/officeDocument/2006/relationships/slide" Target="slides/slide14.xml"/><Relationship Id="R2b51c87ee01c4889" Type="http://schemas.openxmlformats.org/officeDocument/2006/relationships/tableStyles" Target="tableStyles.xml"/><Relationship Id="R390e6e0854e2447f" Type="http://schemas.openxmlformats.org/officeDocument/2006/relationships/slide" Target="slides/slide19.xml"/><Relationship Id="R4fd8b5da0a564af1" Type="http://schemas.openxmlformats.org/officeDocument/2006/relationships/slide" Target="slides/slide15.xml"/><Relationship Id="R526e829c93f242ac" Type="http://schemas.openxmlformats.org/officeDocument/2006/relationships/slide" Target="slides/slide16.xml"/><Relationship Id="R56a8c34eabae41e4" Type="http://schemas.openxmlformats.org/officeDocument/2006/relationships/slide" Target="slides/slide12.xml"/><Relationship Id="R674e04cef4d94b80" Type="http://schemas.openxmlformats.org/officeDocument/2006/relationships/slideMaster" Target="slideMasters/slideMaster1.xml"/><Relationship Id="R69ddce484f73407a" Type="http://schemas.openxmlformats.org/officeDocument/2006/relationships/slide" Target="slides/slide4.xml"/><Relationship Id="R6baf75d502e94d47" Type="http://schemas.openxmlformats.org/officeDocument/2006/relationships/slide" Target="slides/slide3.xml"/><Relationship Id="R8339a8254ea2401f" Type="http://schemas.openxmlformats.org/officeDocument/2006/relationships/theme" Target="theme/theme1.xml"/><Relationship Id="R846995dba7bf46cd" Type="http://schemas.openxmlformats.org/officeDocument/2006/relationships/slide" Target="slides/slide18.xml"/><Relationship Id="R85416d0b25934a3a" Type="http://schemas.openxmlformats.org/officeDocument/2006/relationships/slide" Target="slides/slide10.xml"/><Relationship Id="R860e17b10d7b49cd" Type="http://schemas.openxmlformats.org/officeDocument/2006/relationships/slide" Target="slides/slide6.xml"/><Relationship Id="Ra774807987b24fcc" Type="http://schemas.openxmlformats.org/officeDocument/2006/relationships/notesMaster" Target="notesMasters/notesMaster1.xml"/><Relationship Id="Raa86ad3eda274cb7" Type="http://schemas.openxmlformats.org/officeDocument/2006/relationships/slide" Target="slides/slide11.xml"/><Relationship Id="Rb88abc61b89c494a" Type="http://schemas.openxmlformats.org/officeDocument/2006/relationships/slide" Target="slides/slide7.xml"/><Relationship Id="Rdb4d3afd49214578" Type="http://schemas.openxmlformats.org/officeDocument/2006/relationships/presProps" Target="presProps.xml"/><Relationship Id="Rdd1f5bc602164260" Type="http://schemas.openxmlformats.org/officeDocument/2006/relationships/viewProps" Target="viewProps.xml"/><Relationship Id="Re24a998136c44b62" Type="http://schemas.openxmlformats.org/officeDocument/2006/relationships/slide" Target="slides/slide1.xml"/><Relationship Id="Re5e107a248724c4d" Type="http://schemas.openxmlformats.org/officeDocument/2006/relationships/slide" Target="slides/slide17.xml"/><Relationship Id="Red18528c866844cf" Type="http://schemas.openxmlformats.org/officeDocument/2006/relationships/slide" Target="slides/slide8.xml"/><Relationship Id="Redd1a8b8e2b04357" Type="http://schemas.openxmlformats.org/officeDocument/2006/relationships/slide" Target="slides/slide2.xml"/><Relationship Id="Reff82c39804f43e0" Type="http://schemas.openxmlformats.org/officeDocument/2006/relationships/slide" Target="slides/slide5.xml"/><Relationship Id="Rffea2db2a4204e8b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5ec5e48e46ff4acc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178d04b533548bd" Type="http://schemas.openxmlformats.org/officeDocument/2006/relationships/slide" Target="../slides/slide1.xml"/><Relationship Id="Rf4ae0e4340ad4a6d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134cd14d62b24771" Type="http://schemas.openxmlformats.org/officeDocument/2006/relationships/notesMaster" Target="../notesMasters/notesMaster1.xml"/><Relationship Id="R3fcd39d83b8b420e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193cea238294305" Type="http://schemas.openxmlformats.org/officeDocument/2006/relationships/notesMaster" Target="../notesMasters/notesMaster1.xml"/><Relationship Id="R82dc6867c3c148c9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76602557be824659" Type="http://schemas.openxmlformats.org/officeDocument/2006/relationships/slide" Target="../slides/slide4.xml"/><Relationship Id="Rb6104724f6374c6a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3131a833bb44815" Type="http://schemas.openxmlformats.org/officeDocument/2006/relationships/notesMaster" Target="../notesMasters/notesMaster1.xml"/><Relationship Id="R62e6bdee991a4ffe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9aba895d3dd943a9" Type="http://schemas.openxmlformats.org/officeDocument/2006/relationships/slide" Target="../slides/slide6.xml"/><Relationship Id="Rde0372173d974b53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728d40ae0784d6a" Type="http://schemas.openxmlformats.org/officeDocument/2006/relationships/notesMaster" Target="../notesMasters/notesMaster1.xml"/><Relationship Id="Rec461363666049ba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474308bddd64e33" Type="http://schemas.openxmlformats.org/officeDocument/2006/relationships/notesMaster" Target="../notesMasters/notesMaster1.xml"/><Relationship Id="Rf1717bb262fe4d2f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82e257d8de6e42ef" Type="http://schemas.openxmlformats.org/officeDocument/2006/relationships/slide" Target="../slides/slide9.xml"/><Relationship Id="Rf96c236f018a450a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79914c941c2441d0" Type="http://schemas.openxmlformats.org/officeDocument/2006/relationships/slide" Target="../slides/slide10.xml"/><Relationship Id="R7ae2d107bd3b48cb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765b3262bcdc446e" Type="http://schemas.openxmlformats.org/officeDocument/2006/relationships/notesMaster" Target="../notesMasters/notesMaster1.xml"/><Relationship Id="Re75c33890dbf466d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96263473a3014c85" Type="http://schemas.openxmlformats.org/officeDocument/2006/relationships/notesMaster" Target="../notesMasters/notesMaster1.xml"/><Relationship Id="R9fae8f9f14d94be3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97011ed730f74631" Type="http://schemas.openxmlformats.org/officeDocument/2006/relationships/slide" Target="../slides/slide13.xml"/><Relationship Id="R9eab9738d0de40a9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0f5ab2267a3c4266" Type="http://schemas.openxmlformats.org/officeDocument/2006/relationships/notesMaster" Target="../notesMasters/notesMaster1.xml"/><Relationship Id="R941d930ca86f45ba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17ab0d81837643a3" Type="http://schemas.openxmlformats.org/officeDocument/2006/relationships/slide" Target="../slides/slide15.xml"/><Relationship Id="R32de7731ea824cbe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a45d2620e046440f" Type="http://schemas.openxmlformats.org/officeDocument/2006/relationships/notesMaster" Target="../notesMasters/notesMaster1.xml"/><Relationship Id="Rcfc230659e544f8f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1c404269b05546f7" Type="http://schemas.openxmlformats.org/officeDocument/2006/relationships/slide" Target="../slides/slide17.xml"/><Relationship Id="Rc5b13e3297a94afa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a67ef92e831446d7" Type="http://schemas.openxmlformats.org/officeDocument/2006/relationships/notesMaster" Target="../notesMasters/notesMaster1.xml"/><Relationship Id="Recf0b3f4334f4a9e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3e9cd61c90cf4e96" Type="http://schemas.openxmlformats.org/officeDocument/2006/relationships/slide" Target="../slides/slide19.xml"/><Relationship Id="R6ca0239824234d5a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d8d61fe6c3224695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258afcf54754232" Type="http://schemas.openxmlformats.org/officeDocument/2006/relationships/theme" Target="../theme/theme1.xml"/><Relationship Id="R9ec2250c429942ae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c2250c429942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71db81c4b9d845e3" Type="http://schemas.openxmlformats.org/officeDocument/2006/relationships/slideLayout" Target="../slideLayouts/slideLayout2.xml"/><Relationship Id="Rd2793467a83349a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247c812be5594310" Type="http://schemas.openxmlformats.org/officeDocument/2006/relationships/notesSlide" Target="../notesSlides/notesSlide2.xml"/><Relationship Id="R5f0c288bdeca4d0a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7097dbc138454d46" Type="http://schemas.openxmlformats.org/officeDocument/2006/relationships/slideLayout" Target="../slideLayouts/slideLayout2.xml"/><Relationship Id="R77749e63dcff40a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57b3a8ff7fb40f7" Type="http://schemas.openxmlformats.org/officeDocument/2006/relationships/slideLayout" Target="../slideLayouts/slideLayout2.xml"/><Relationship Id="R2666ef5049fa48bc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a8b278fd4e84129" Type="http://schemas.openxmlformats.org/officeDocument/2006/relationships/notesSlide" Target="../notesSlides/notesSlide5.xml"/><Relationship Id="R903d2931e0154ae9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b6128097d7fd4ef1" Type="http://schemas.openxmlformats.org/officeDocument/2006/relationships/notesSlide" Target="../notesSlides/notesSlide6.xml"/><Relationship Id="Rfe1500a554034baf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078f8ec6548747a5" Type="http://schemas.openxmlformats.org/officeDocument/2006/relationships/slideLayout" Target="../slideLayouts/slideLayout2.xml"/><Relationship Id="Reab51a26603e4d9e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9b75f11445294320" Type="http://schemas.openxmlformats.org/officeDocument/2006/relationships/slideLayout" Target="../slideLayouts/slideLayout2.xml"/><Relationship Id="Rafe2bf61fa31416c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ea7502613a334380" Type="http://schemas.openxmlformats.org/officeDocument/2006/relationships/slideLayout" Target="../slideLayouts/slideLayout2.xml"/><Relationship Id="Refc49c52714a49c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3e004208dcd54920" Type="http://schemas.openxmlformats.org/officeDocument/2006/relationships/notesSlide" Target="../notesSlides/notesSlide10.xml"/><Relationship Id="R6b4a02052ebd47c8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349d2306c75f4ce9" Type="http://schemas.openxmlformats.org/officeDocument/2006/relationships/notesSlide" Target="../notesSlides/notesSlide11.xml"/><Relationship Id="Rfb39e68adb0344c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5fbf9d050dcd4cda" Type="http://schemas.openxmlformats.org/officeDocument/2006/relationships/notesSlide" Target="../notesSlides/notesSlide12.xml"/><Relationship Id="R99cce9ebe96045d9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8019e7d615bd4476" Type="http://schemas.openxmlformats.org/officeDocument/2006/relationships/notesSlide" Target="../notesSlides/notesSlide13.xml"/><Relationship Id="Rf974cc8a197e44d4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5a54638bcc114cf5" Type="http://schemas.openxmlformats.org/officeDocument/2006/relationships/notesSlide" Target="../notesSlides/notesSlide14.xml"/><Relationship Id="R6e5f2ddca1034812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6b0436c5341f4bcf" Type="http://schemas.openxmlformats.org/officeDocument/2006/relationships/notesSlide" Target="../notesSlides/notesSlide15.xml"/><Relationship Id="Rf2ba07444cca4a98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06b2642dfd91485f" Type="http://schemas.openxmlformats.org/officeDocument/2006/relationships/notesSlide" Target="../notesSlides/notesSlide16.xml"/><Relationship Id="R19930b5c6a7b4f66" Type="http://schemas.openxmlformats.org/officeDocument/2006/relationships/image" Target="../media/image.png"/><Relationship Id="R85aa5731b8c14334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04404a6a35524b85" Type="http://schemas.openxmlformats.org/officeDocument/2006/relationships/slideLayout" Target="../slideLayouts/slideLayout2.xml"/><Relationship Id="R2cef59b34b0a4faf" Type="http://schemas.openxmlformats.org/officeDocument/2006/relationships/image" Target="../media/image2.png"/><Relationship Id="Rd5cdac3ac6d14efa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2a7c5d8220044163" Type="http://schemas.openxmlformats.org/officeDocument/2006/relationships/slideLayout" Target="../slideLayouts/slideLayout2.xml"/><Relationship Id="R8e4ab2ab9a8749f7" Type="http://schemas.openxmlformats.org/officeDocument/2006/relationships/image" Target="../media/image3.png"/><Relationship Id="R9b2e80cb1a39497e" Type="http://schemas.openxmlformats.org/officeDocument/2006/relationships/notesSlide" Target="../notesSlides/notesSlide18.xml"/><Relationship Id="Rd6ca095756014d5b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1f3ecad97e8444ee" Type="http://schemas.openxmlformats.org/officeDocument/2006/relationships/slideLayout" Target="../slideLayouts/slideLayout2.xml"/><Relationship Id="Ra7a0660ba9c543e9" Type="http://schemas.openxmlformats.org/officeDocument/2006/relationships/notesSlide" Target="../notesSlides/notesSlide19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334CC5-44EB-420F-BFD1-12B3496B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A494B-5994-418C-9219-CE7BEAC4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DA591-9D09-4586-A5E4-7A74F2AE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8953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E8F8B-A8A6-40A0-8AFD-17A488A4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24000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A83DE-6ACF-4D79-8659-55B43B88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CloudSpace Technologies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A6E7F-1255-4548-AF03-64848B46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INSWITCH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088CE-9151-4016-90AF-237A3425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85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INSWITCH: settlement reliability infrastructure for Nigerian banks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800BA-8DE6-44A4-84E7-31BEC9A7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CloudSpace Technologies is presenting a controlled switching and repair platform for the local settlement leg: fewer unresolved transfers, safer reversals, better provider decisions, and cleaner audit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870D5-D877-47D9-8EAC-162A1D42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756D9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87FB2-01F4-42CF-AAEB-3FF72709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AA641-58D1-47E7-82CF-D89455B5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4342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Bank CIO / ED briefing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8A05C-8EDD-47E8-86A4-0ED23684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7675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08111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0A03C-A15E-4436-B62C-07ED945D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91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28E9B-3E39-4509-8119-0511AF41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4342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Enterprise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A0FC0-E1B4-491E-89C3-3BAD87E0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CIO / ED enterprise investment briefing / June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42869-B8C6-4DC5-B534-C571015B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A888B-20A2-4741-BC5E-638FEF5E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Prepared by CloudSpace Technologies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A917D-B31A-4FE7-9FA5-92C6D59F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522909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D83648-E048-4DCF-A7A1-BB1226A2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10B56-3265-4C41-8BCD-03D4EBB9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7F01C-2E74-4882-93A8-45A27A82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EXECUTIVE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2B6E3-E100-444E-9F05-4988796F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The bank is not buying another dashboard. It is buying control over final-leg uncertainty.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07E7E-32BF-4E1A-801D-9305D8EB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81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INSWITCH addresses the point where digital payments become executive risk: customer value has left one system, final credit is not cleanly proven, and the next action can create loss if handled manually.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DB209-378A-4774-86E3-A4D9831C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238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2528F-28E8-4D37-8130-DC78242B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Customer confidence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D9460-8E9E-4015-ABAB-1568FB40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Branches, contact centers, and digital channels need a defensible answer when a beneficiary has not been credited.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F3AD8-E1D5-4293-9931-FE9E4D59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B42318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13500-7E2B-4FA6-B266-8D8161CB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36F60-5202-46E3-9C11-16C900E5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0537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CX / brand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8E3CB-EE04-433D-AA3B-995B4491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6150"/>
            <a:ext cx="3238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3F224-38D4-4483-9F5B-B3014D5E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957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Operational loss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FD933-002E-46B9-B9C7-1AA51270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14800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Manual follow-up can lead to duplicate credits, delayed reversals, and unresolved suspense positions.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28521-E705-452B-BFDE-5EAD746E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387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B54708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6B5E7-5041-4390-8A18-BCF193FD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53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B58BB5-D983-4DA7-B992-CBF32E85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0537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5470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54708"/>
                </a:solidFill>
                <a:latin typeface="Aptos"/>
                <a:ea typeface="Aptos"/>
                <a:cs typeface="Aptos"/>
              </a:rPr>
              <a:t>Loss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2DA6E-D6B8-42C8-B206-75E23735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86150"/>
            <a:ext cx="3238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C3A6E-8681-417C-A27E-332EB907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Executive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E402D-E2DA-4C0A-9001-C9A4D06D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The CIO/ED needs one governed view of provider health, SLA pressure, evidence, and closure authority.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ABFB37-2523-46B6-A564-38216962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387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756D9">
                <a:alpha val="2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5D896-0603-44E1-9B05-0CB64D9D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53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9F89BA-F2A8-43F6-B149-04F0D411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0537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Control layer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AB0D1B-1BEF-4683-B9BD-1D08D79B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CD5E0A-A7B3-4AA7-BB22-FADD6308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CloudSpace Technologies / INSWITCH CIO-ED briefing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F1E90B-9962-47D7-AFE1-552DB195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82492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221602-9352-42D9-AEA3-F4FBAB7A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61D87-0A88-4B05-99D5-F24C59DA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F55A1-786C-4292-9A75-22608771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BOARD-LEVEL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5037E-58B0-4275-8D12-FA69C0E6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 single local settlement dependency turns provider noise into bank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0F6F7-D889-41A3-BEAE-939AE915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42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When the final-leg route slows down, the bank still owns the customer conversation, the reversal decision, the ledger proof, and the partner escalation.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51D23-510C-4E6C-87CF-D106DD68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200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31B68-27DB-42F7-975C-E3421CC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Bank channels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701B4-4B41-491F-B0BF-9AA5369F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695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Mobile, branch, API, partner channels submit payment instructions.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1F0EC-BAF5-435A-BC8A-BF935D3D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290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FCBA3-CD90-4F62-823B-B14AB997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81425"/>
            <a:ext cx="104775" cy="1047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C4E53-FE93-4909-9169-012C05A5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00400"/>
            <a:ext cx="228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B42318">
                <a:alpha val="26667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3606D-2A31-4D6E-9090-24B89E38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528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Single route pressure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CCE38-9059-49F0-8934-FFA5A93B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3855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NIP or one contracted provider becomes the practical bottleneck.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E3E45-F1CA-48D5-8987-5FB2E606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290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17873-7F12-456E-B0E8-FBFEE6A5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781425"/>
            <a:ext cx="104775" cy="1047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404C4-3F7F-4F53-85A3-5C2CA6D1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B54708">
                <a:alpha val="26667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65CDB-F667-4489-8CC6-194BD102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528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Uncertain finality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27043-4A0B-45D5-8B27-524795C7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2266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Timeouts, delayed callbacks, TSQ gaps, reversal questions, settlement mismatch.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933B49-A804-492F-9B10-A46CFE9F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290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E2A04-B0A3-4E3C-B043-38692185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781425"/>
            <a:ext cx="104775" cy="1047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8D785F-EC87-4E1B-B6E5-1E916712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00400"/>
            <a:ext cx="1371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756D9">
                <a:alpha val="26667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4EEBA-AC6D-4F46-AEE6-D1CF929F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528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Executive exposure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7094D9-FEDB-4F49-A437-3246B891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38550"/>
            <a:ext cx="1066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Customer complaints, operational breaks, financial exposure, audit questions.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DA643F-4ADC-404D-AECB-B9606F23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001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The CIO/ED question is not “did the API respond?” It is “can the bank prove what happened and act safely before the issue becomes loss or reputational damage?”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37FF5D-F564-42C1-B3F4-C56ABF48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7090F1-7DFB-402C-84E6-D1DA6395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CloudSpace Technologies / INSWITCH CIO-ED briefing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FEDE33-555B-41D0-91A7-27A5547A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48763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29AB6-D61F-45E0-8427-38C462B3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9FDC5-E42F-484A-9BBC-D76228EA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246B2-BB9B-468C-8CFE-0F28F13E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CLOUDSPACE TECHNOLOGIES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78E2D-9956-49D9-B0DA-633AC4AD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191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INSWITCH gives the bank a governed switching and repair layer for the local settlement leg.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31B54-ED27-467D-9765-5D012279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The bank keeps its core ledger, policies, and maker-checker controls. CloudSpace delivers the orchestration layer that selects eligible routes, monitors provider health, drives repair, and preserves the evidence trail.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444C3-796B-482E-AEBE-6FEDF0D8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885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27096-6C1A-469B-B781-F5FF8BCE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bank instruction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6D832-AC21-450D-A777-3C3DF4BE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581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Idempotent transfer intake from bank or partner systems.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7210B-8F2A-4172-AF2B-8587F3B7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671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B6BEF-A832-4F20-BCB5-FC0D7FE7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19525"/>
            <a:ext cx="104775" cy="1047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4C922-896F-46E5-BB29-442037C6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2152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756D9">
                <a:alpha val="26667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2B3E2-2526-4AE5-9092-A2C620E3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099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INSWITCH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75759-9FC8-4C0B-A07C-E9DD1435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95700"/>
            <a:ext cx="1847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Eligibility, policy, routing, provider health, SLA timers.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51FC1-DCE1-4FA7-94DB-094E220B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A12A9-2B53-440A-8E47-C7A6A826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819525"/>
            <a:ext cx="104775" cy="1047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7C599-9C79-405C-BAAC-403D5F37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57550"/>
            <a:ext cx="2228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067647">
                <a:alpha val="26667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331FC-F02B-4AE5-A9C3-7907AAA2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99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Local providers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DF336-2B99-4BD2-9A13-E434DD6D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9570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NIP, Moniepoint, Interswitch, Paystack and approved rails.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8B115-E520-4E1C-BC39-6C40B77E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671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0E8667-2291-4A51-820E-06611D07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819525"/>
            <a:ext cx="104775" cy="1047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C9DD1E-209A-4E3B-99CF-EFE6AE8D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57550"/>
            <a:ext cx="2228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B54708">
                <a:alpha val="26667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C7F135-9EB5-41C7-9994-BEF7B2DE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099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Proof and closure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53B6D-FAFD-4274-8EAE-502D7526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9570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TSQ, session ID, callback, ledger posting, settlement report, audit.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238439-FCA4-4DB5-8AF1-1B7C6FFD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756D9">
                <a:alpha val="2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7986FC-883C-4B9A-8EEC-E335B3AD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594E30-DA98-4427-A5BB-DE3F855D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Not a core replacement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9756B4-EB87-4E3B-907E-17745602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2920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B54708">
                <a:alpha val="2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437933-BCA4-4E5E-BE0F-DD987DBC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143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A52598-0BFB-4278-947C-73E0819F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95875"/>
            <a:ext cx="1409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5470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54708"/>
                </a:solidFill>
                <a:latin typeface="Aptos"/>
                <a:ea typeface="Aptos"/>
                <a:cs typeface="Aptos"/>
              </a:rPr>
              <a:t>Not a pass-through adapter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10D7A2-CE43-4251-B6F9-ECABED3B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2920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067647">
                <a:alpha val="20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093E8C-4CE0-4612-9F24-8DA792A4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43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6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BEC64B-ABE1-4C34-B1C1-DC6D7A5D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95875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76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7647"/>
                </a:solidFill>
                <a:latin typeface="Aptos"/>
                <a:ea typeface="Aptos"/>
                <a:cs typeface="Aptos"/>
              </a:rPr>
              <a:t>Bank policy remains in control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478024-C5D1-411F-98B2-55A39748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This is the layer between transaction submission and operational finality: the place where reliability, evidence, and safe closure are enforced.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3EA9E7-C561-41E8-961D-EC863F3C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874385-1982-42F4-8173-10CE5DB7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CloudSpace Technologies / INSWITCH CIO-ED briefing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1AF07B-0B1F-4210-B0EA-9E47B16B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599878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C287B1-E421-4A32-AA76-23530371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3F044-94F1-44DC-B259-E1F80C5C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58492-6FC6-4234-AE2B-37E25B62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F7B59-FC49-4A19-B497-6AC9E10D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01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INSWITCH turns unresolved payments into governed work, not inbox traffic.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2F985-5EE9-4D0D-A721-ED28E5D9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8001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Every case has an owner, a permitted action, an evidence requirement, and an audit event. That is the difference between a software demo and a bank operating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080C3-5D00-4ED5-BEA0-7D8377D8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971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BD571-6185-4C27-9DF6-35EF950C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Detect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F4C99-C1D8-45C1-8F11-9C5FB121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33725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Failed, reversed, delayed, indeterminate, or SLA-breached local transfers are surfaced immediately.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377D1-79C5-4DB7-8221-90780BF6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52775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756D9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A7C97-A7E3-4FBC-BCDA-2461877D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67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D3900-037B-448F-BC1A-E771BB1F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194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AD18B-1545-4E42-9B12-5B0550F6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971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C189C-0021-426F-B576-15C103DA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BFFB7-10A2-46A4-9176-62643EBE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71925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New eligible traffic can move toward the best-performing local provider while existing cases remain protected.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80409-7280-4742-99FC-E7DA7C01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90975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756D9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14CA2-3D06-4918-AED8-28E030C1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052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63B6C-2689-479B-B656-BE760489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576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1029F2-8A84-4AD8-BD49-AD617564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971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3839A-45F5-4F8F-95C8-21A09BC8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Repair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E10609-3724-46CC-B8D9-23A76B3A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10125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TSQ, callback replay, ledger search, settlement matching, and reversal approval are step-based.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772382-076A-4094-B499-D046525C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29175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B54708">
                <a:alpha val="2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7146FE-F365-4FCD-9C41-36C64B08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43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E9BB3D-9A11-4B5F-A1E8-A79C2B23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958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5470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54708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01719C-0984-4D24-B6C2-2F66C275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971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1A69F1-7C1B-41A9-9858-D57392A6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578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Prove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8F6308-27CB-419C-BA3B-38FB1F72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648325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Session IDs, Receiving Entity responses, core postings, settlement reports, reasons, and maker-checker history stay linked.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35DC9A-681E-4CCF-9D2C-3391A26D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667375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067647">
                <a:alpha val="2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42BBFD-7F9E-4456-84B6-11D7E728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781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6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5ECD9D-E4C9-4B1B-88AE-24BED4F8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7340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76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7647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8C46D0-193E-48FB-B667-BCA58693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AD5214-ACDA-46C7-AB86-916CBF8D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CloudSpace Technologies / INSWITCH CIO-ED briefing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50D5EE-39D8-4F6A-A431-F7CC6832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31519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C959EE-3674-45BD-ADA7-FCA1EE36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F12F1-027F-446E-8D4A-00CAEFC7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4A580-BCE0-494F-AC46-971332C9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EXECUTIVE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20C83-84EF-4A3F-95B1-2FA281E9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18288" rIns="18288" bIns="18288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A1220"/>
                </a:solidFill>
                <a:latin typeface="Aptos"/>
              </a:rPr>
              <a:t>Command Center: quick operating answers at the top of the screen.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9E294-7111-447C-8B01-9FBC287C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8096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18288" rIns="18288" bIns="18288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475467"/>
                </a:solidFill>
                <a:latin typeface="Aptos"/>
              </a:rPr>
              <a:t>Failed transfers, local provider condition, partner SLA breaches, and INSWITCH telemetry are visible before any drilldown.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7CC21-0C20-499A-8FE4-051FDB2A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830D1-B113-4171-931C-93DF48A3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111F"/>
                </a:solidFill>
                <a:latin typeface="Cascadia Code"/>
                <a:ea typeface="Cascadia Code"/>
                <a:cs typeface="Cascadia Code"/>
              </a:defRPr>
            </a:pPr>
            <a:r>
              <a:rPr sz="2250" b="1">
                <a:solidFill>
                  <a:srgbClr val="08111F"/>
                </a:solidFill>
                <a:latin typeface="Cascadia Code"/>
                <a:ea typeface="Cascadia Code"/>
                <a:cs typeface="Cascadia Code"/>
              </a:rPr>
              <a:t>Yes /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F309C-CE27-4E46-978A-E4C20E1A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997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failed or reversed local transfers in the active window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AAABB-8101-4DF9-81EA-DF020B85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C823E-8B18-41B2-B081-6E48C9B6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385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111F"/>
                </a:solidFill>
                <a:latin typeface="Cascadia Code"/>
                <a:ea typeface="Cascadia Code"/>
                <a:cs typeface="Cascadia Code"/>
              </a:defRPr>
            </a:pPr>
            <a:r>
              <a:rPr sz="2250" b="1">
                <a:solidFill>
                  <a:srgbClr val="08111F"/>
                </a:solidFill>
                <a:latin typeface="Cascadia Code"/>
                <a:ea typeface="Cascadia Code"/>
                <a:cs typeface="Cascadia Code"/>
              </a:rPr>
              <a:t>3 /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3FA67-700E-4307-BCF0-1D1DE49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0997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local providers currently working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B9CF1-79FC-4BFB-8C25-BAC77342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040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FDD16-D1D5-4B35-8A98-48EEEA39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385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111F"/>
                </a:solidFill>
                <a:latin typeface="Cascadia Code"/>
                <a:ea typeface="Cascadia Code"/>
                <a:cs typeface="Cascadia Code"/>
              </a:defRPr>
            </a:pPr>
            <a:r>
              <a:rPr sz="2250" b="1">
                <a:solidFill>
                  <a:srgbClr val="08111F"/>
                </a:solidFill>
                <a:latin typeface="Cascadia Code"/>
                <a:ea typeface="Cascadia Code"/>
                <a:cs typeface="Cascadia Code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620DC-7D66-48E8-BB8C-E7E6A70E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09975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international partner SLA currently failing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B91FC-87DB-4BEF-80FD-E0FA23F3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0040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76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98439-7210-4B3D-9AF7-E46DED43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3850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111F"/>
                </a:solidFill>
                <a:latin typeface="Cascadia Code"/>
                <a:ea typeface="Cascadia Code"/>
                <a:cs typeface="Cascadia Code"/>
              </a:defRPr>
            </a:pPr>
            <a:r>
              <a:rPr sz="2250" b="1">
                <a:solidFill>
                  <a:srgbClr val="08111F"/>
                </a:solidFill>
                <a:latin typeface="Cascadia Code"/>
                <a:ea typeface="Cascadia Code"/>
                <a:cs typeface="Cascadia Code"/>
              </a:rPr>
              <a:t>Live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790A9-ECCF-489E-BBE2-A00EBC31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09975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INSWITCH switching telemetry current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168178-1B72-4A83-A843-83FF0572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E2D6F1-C00B-43D0-9B4A-122E2379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Live product signal from deployed INSWITCH demo environment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4E0DB-20ED-42B3-93B5-E50BF329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822960" y="4608576"/>
            <a:ext cx="10543032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1024128" y="4727448"/>
            <a:ext cx="2194560" cy="164592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r>
              <a:rPr sz="800" b="1">
                <a:solidFill>
                  <a:srgbClr val="667085"/>
                </a:solidFill>
                <a:latin typeface="Aptos"/>
              </a:rPr>
              <a:t>LOCAL PROVIDER WINDOW</a:t>
            </a:r>
          </a:p>
        </p:txBody>
      </p:sp>
      <p:sp xmlns:a="http://schemas.openxmlformats.org/drawingml/2006/main">
        <p:nvSpPr>
          <p:cNvPr id="25" name="TextBox 24"/>
          <p:cNvSpPr txBox="1"/>
          <p:nvPr/>
        </p:nvSpPr>
        <p:spPr>
          <a:xfrm>
            <a:off x="8887968" y="4727448"/>
            <a:ext cx="2148840" cy="164592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ptos"/>
              </a:rPr>
              <a:t>RANKED BY CURRENT ROUTE PRESSURE</a:t>
            </a:r>
          </a:p>
        </p:txBody>
      </p:sp>
      <p:sp xmlns:a="http://schemas.openxmlformats.org/drawingml/2006/main">
        <p:nvSpPr>
          <p:cNvPr id="26" name="Rounded Rectangle 25"/>
          <p:cNvSpPr/>
          <p:nvPr/>
        </p:nvSpPr>
        <p:spPr>
          <a:xfrm>
            <a:off x="987552" y="4974336"/>
            <a:ext cx="2395728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67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987552" y="4974336"/>
            <a:ext cx="36576" cy="749808"/>
          </a:xfrm>
          <a:prstGeom prst="rect">
            <a:avLst/>
          </a:prstGeom>
          <a:solidFill>
            <a:srgbClr val="067647"/>
          </a:solidFill>
          <a:ln>
            <a:solidFill>
              <a:srgbClr val="067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TextBox 27"/>
          <p:cNvSpPr txBox="1"/>
          <p:nvPr/>
        </p:nvSpPr>
        <p:spPr>
          <a:xfrm>
            <a:off x="1124712" y="5047488"/>
            <a:ext cx="1024128" cy="164592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r>
              <a:rPr sz="700" b="1">
                <a:solidFill>
                  <a:srgbClr val="667085"/>
                </a:solidFill>
                <a:latin typeface="Aptos"/>
              </a:rPr>
              <a:t>MONIEPOINT</a:t>
            </a:r>
          </a:p>
        </p:txBody>
      </p:sp>
      <p:sp xmlns:a="http://schemas.openxmlformats.org/drawingml/2006/main">
        <p:nvSpPr>
          <p:cNvPr id="29" name="TextBox 28"/>
          <p:cNvSpPr txBox="1"/>
          <p:nvPr/>
        </p:nvSpPr>
        <p:spPr>
          <a:xfrm>
            <a:off x="2295144" y="5047488"/>
            <a:ext cx="841248" cy="164592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pPr algn="r"/>
            <a:r>
              <a:rPr sz="700" b="1">
                <a:solidFill>
                  <a:srgbClr val="067647"/>
                </a:solidFill>
                <a:latin typeface="Aptos"/>
              </a:rPr>
              <a:t>BEST</a:t>
            </a:r>
          </a:p>
        </p:txBody>
      </p:sp>
      <p:sp xmlns:a="http://schemas.openxmlformats.org/drawingml/2006/main">
        <p:nvSpPr>
          <p:cNvPr id="30" name="TextBox 29"/>
          <p:cNvSpPr txBox="1"/>
          <p:nvPr/>
        </p:nvSpPr>
        <p:spPr>
          <a:xfrm>
            <a:off x="1124712" y="5239512"/>
            <a:ext cx="804672" cy="256032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r>
              <a:rPr sz="1600" b="1">
                <a:solidFill>
                  <a:srgbClr val="0A1220"/>
                </a:solidFill>
                <a:latin typeface="Aptos"/>
              </a:rPr>
              <a:t>41s</a:t>
            </a:r>
          </a:p>
        </p:txBody>
      </p:sp>
      <p:sp xmlns:a="http://schemas.openxmlformats.org/drawingml/2006/main">
        <p:nvSpPr>
          <p:cNvPr id="31" name="TextBox 30"/>
          <p:cNvSpPr txBox="1"/>
          <p:nvPr/>
        </p:nvSpPr>
        <p:spPr>
          <a:xfrm>
            <a:off x="1947672" y="5276088"/>
            <a:ext cx="841248" cy="164592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r>
              <a:rPr sz="800" b="0">
                <a:solidFill>
                  <a:srgbClr val="475467"/>
                </a:solidFill>
                <a:latin typeface="Aptos"/>
              </a:rPr>
              <a:t>P95 credit</a:t>
            </a:r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1124712" y="5532120"/>
            <a:ext cx="1783080" cy="146304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r>
              <a:rPr sz="700" b="0">
                <a:solidFill>
                  <a:srgbClr val="475467"/>
                </a:solidFill>
                <a:latin typeface="Aptos"/>
              </a:rPr>
              <a:t>0.3% timeout / 0 open</a:t>
            </a:r>
          </a:p>
        </p:txBody>
      </p:sp>
      <p:sp xmlns:a="http://schemas.openxmlformats.org/drawingml/2006/main">
        <p:nvSpPr>
          <p:cNvPr id="33" name="Rounded Rectangle 32"/>
          <p:cNvSpPr/>
          <p:nvPr/>
        </p:nvSpPr>
        <p:spPr>
          <a:xfrm>
            <a:off x="3538728" y="4974336"/>
            <a:ext cx="2395728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A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3538728" y="4974336"/>
            <a:ext cx="36576" cy="749808"/>
          </a:xfrm>
          <a:prstGeom prst="rect">
            <a:avLst/>
          </a:prstGeom>
          <a:solidFill>
            <a:srgbClr val="0A66FF"/>
          </a:solidFill>
          <a:ln>
            <a:solidFill>
              <a:srgbClr val="0A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TextBox 34"/>
          <p:cNvSpPr txBox="1"/>
          <p:nvPr/>
        </p:nvSpPr>
        <p:spPr>
          <a:xfrm>
            <a:off x="3675888" y="5047488"/>
            <a:ext cx="1024128" cy="164592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r>
              <a:rPr sz="700" b="1">
                <a:solidFill>
                  <a:srgbClr val="667085"/>
                </a:solidFill>
                <a:latin typeface="Aptos"/>
              </a:rPr>
              <a:t>INTERSWITCH</a:t>
            </a:r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4846320" y="5047488"/>
            <a:ext cx="841248" cy="164592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pPr algn="r"/>
            <a:r>
              <a:rPr sz="700" b="1">
                <a:solidFill>
                  <a:srgbClr val="0A66FF"/>
                </a:solidFill>
                <a:latin typeface="Aptos"/>
              </a:rPr>
              <a:t>WORKING</a:t>
            </a:r>
          </a:p>
        </p:txBody>
      </p:sp>
      <p:sp xmlns:a="http://schemas.openxmlformats.org/drawingml/2006/main">
        <p:nvSpPr>
          <p:cNvPr id="37" name="TextBox 36"/>
          <p:cNvSpPr txBox="1"/>
          <p:nvPr/>
        </p:nvSpPr>
        <p:spPr>
          <a:xfrm>
            <a:off x="3675888" y="5239512"/>
            <a:ext cx="804672" cy="256032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r>
              <a:rPr sz="1600" b="1">
                <a:solidFill>
                  <a:srgbClr val="0A1220"/>
                </a:solidFill>
                <a:latin typeface="Aptos"/>
              </a:rPr>
              <a:t>52s</a:t>
            </a:r>
          </a:p>
        </p:txBody>
      </p:sp>
      <p:sp xmlns:a="http://schemas.openxmlformats.org/drawingml/2006/main">
        <p:nvSpPr>
          <p:cNvPr id="38" name="TextBox 37"/>
          <p:cNvSpPr txBox="1"/>
          <p:nvPr/>
        </p:nvSpPr>
        <p:spPr>
          <a:xfrm>
            <a:off x="4498848" y="5276088"/>
            <a:ext cx="841248" cy="164592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r>
              <a:rPr sz="800" b="0">
                <a:solidFill>
                  <a:srgbClr val="475467"/>
                </a:solidFill>
                <a:latin typeface="Aptos"/>
              </a:rPr>
              <a:t>P95 credit</a:t>
            </a:r>
          </a:p>
        </p:txBody>
      </p:sp>
      <p:sp xmlns:a="http://schemas.openxmlformats.org/drawingml/2006/main">
        <p:nvSpPr>
          <p:cNvPr id="39" name="TextBox 38"/>
          <p:cNvSpPr txBox="1"/>
          <p:nvPr/>
        </p:nvSpPr>
        <p:spPr>
          <a:xfrm>
            <a:off x="3675888" y="5532120"/>
            <a:ext cx="1783080" cy="146304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r>
              <a:rPr sz="700" b="0">
                <a:solidFill>
                  <a:srgbClr val="475467"/>
                </a:solidFill>
                <a:latin typeface="Aptos"/>
              </a:rPr>
              <a:t>0.9% timeout / 1 open</a:t>
            </a:r>
          </a:p>
        </p:txBody>
      </p:sp>
      <p:sp xmlns:a="http://schemas.openxmlformats.org/drawingml/2006/main">
        <p:nvSpPr>
          <p:cNvPr id="40" name="Rounded Rectangle 39"/>
          <p:cNvSpPr/>
          <p:nvPr/>
        </p:nvSpPr>
        <p:spPr>
          <a:xfrm>
            <a:off x="6089904" y="4974336"/>
            <a:ext cx="2395728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54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6089904" y="4974336"/>
            <a:ext cx="36576" cy="749808"/>
          </a:xfrm>
          <a:prstGeom prst="rect">
            <a:avLst/>
          </a:prstGeom>
          <a:solidFill>
            <a:srgbClr val="B54708"/>
          </a:solidFill>
          <a:ln>
            <a:solidFill>
              <a:srgbClr val="B54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TextBox 41"/>
          <p:cNvSpPr txBox="1"/>
          <p:nvPr/>
        </p:nvSpPr>
        <p:spPr>
          <a:xfrm>
            <a:off x="6227064" y="5047488"/>
            <a:ext cx="1024128" cy="164592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r>
              <a:rPr sz="700" b="1">
                <a:solidFill>
                  <a:srgbClr val="667085"/>
                </a:solidFill>
                <a:latin typeface="Aptos"/>
              </a:rPr>
              <a:t>PAYSTACK</a:t>
            </a:r>
          </a:p>
        </p:txBody>
      </p:sp>
      <p:sp xmlns:a="http://schemas.openxmlformats.org/drawingml/2006/main">
        <p:nvSpPr>
          <p:cNvPr id="43" name="TextBox 42"/>
          <p:cNvSpPr txBox="1"/>
          <p:nvPr/>
        </p:nvSpPr>
        <p:spPr>
          <a:xfrm>
            <a:off x="7397496" y="5047488"/>
            <a:ext cx="841248" cy="164592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pPr algn="r"/>
            <a:r>
              <a:rPr sz="700" b="1">
                <a:solidFill>
                  <a:srgbClr val="B54708"/>
                </a:solidFill>
                <a:latin typeface="Aptos"/>
              </a:rPr>
              <a:t>WATCH</a:t>
            </a:r>
          </a:p>
        </p:txBody>
      </p:sp>
      <p:sp xmlns:a="http://schemas.openxmlformats.org/drawingml/2006/main">
        <p:nvSpPr>
          <p:cNvPr id="44" name="TextBox 43"/>
          <p:cNvSpPr txBox="1"/>
          <p:nvPr/>
        </p:nvSpPr>
        <p:spPr>
          <a:xfrm>
            <a:off x="6227064" y="5239512"/>
            <a:ext cx="804672" cy="256032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r>
              <a:rPr sz="1600" b="1">
                <a:solidFill>
                  <a:srgbClr val="0A1220"/>
                </a:solidFill>
                <a:latin typeface="Aptos"/>
              </a:rPr>
              <a:t>1m 26s</a:t>
            </a:r>
          </a:p>
        </p:txBody>
      </p:sp>
      <p:sp xmlns:a="http://schemas.openxmlformats.org/drawingml/2006/main">
        <p:nvSpPr>
          <p:cNvPr id="45" name="TextBox 44"/>
          <p:cNvSpPr txBox="1"/>
          <p:nvPr/>
        </p:nvSpPr>
        <p:spPr>
          <a:xfrm>
            <a:off x="7050024" y="5276088"/>
            <a:ext cx="841248" cy="164592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r>
              <a:rPr sz="800" b="0">
                <a:solidFill>
                  <a:srgbClr val="475467"/>
                </a:solidFill>
                <a:latin typeface="Aptos"/>
              </a:rPr>
              <a:t>P95 credit</a:t>
            </a:r>
          </a:p>
        </p:txBody>
      </p:sp>
      <p:sp xmlns:a="http://schemas.openxmlformats.org/drawingml/2006/main">
        <p:nvSpPr>
          <p:cNvPr id="46" name="TextBox 45"/>
          <p:cNvSpPr txBox="1"/>
          <p:nvPr/>
        </p:nvSpPr>
        <p:spPr>
          <a:xfrm>
            <a:off x="6227064" y="5532120"/>
            <a:ext cx="1783080" cy="146304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r>
              <a:rPr sz="700" b="0">
                <a:solidFill>
                  <a:srgbClr val="475467"/>
                </a:solidFill>
                <a:latin typeface="Aptos"/>
              </a:rPr>
              <a:t>2.1% timeout / 2 open</a:t>
            </a:r>
          </a:p>
        </p:txBody>
      </p:sp>
      <p:sp xmlns:a="http://schemas.openxmlformats.org/drawingml/2006/main">
        <p:nvSpPr>
          <p:cNvPr id="47" name="Rounded Rectangle 46"/>
          <p:cNvSpPr/>
          <p:nvPr/>
        </p:nvSpPr>
        <p:spPr>
          <a:xfrm>
            <a:off x="8641080" y="4974336"/>
            <a:ext cx="2395728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ectangle 47"/>
          <p:cNvSpPr/>
          <p:nvPr/>
        </p:nvSpPr>
        <p:spPr>
          <a:xfrm>
            <a:off x="8641080" y="4974336"/>
            <a:ext cx="36576" cy="749808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9" name="TextBox 48"/>
          <p:cNvSpPr txBox="1"/>
          <p:nvPr/>
        </p:nvSpPr>
        <p:spPr>
          <a:xfrm>
            <a:off x="8778240" y="5047488"/>
            <a:ext cx="1024128" cy="164592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r>
              <a:rPr sz="700" b="1">
                <a:solidFill>
                  <a:srgbClr val="667085"/>
                </a:solidFill>
                <a:latin typeface="Aptos"/>
              </a:rPr>
              <a:t>NIP</a:t>
            </a:r>
          </a:p>
        </p:txBody>
      </p:sp>
      <p:sp xmlns:a="http://schemas.openxmlformats.org/drawingml/2006/main">
        <p:nvSpPr>
          <p:cNvPr id="50" name="TextBox 49"/>
          <p:cNvSpPr txBox="1"/>
          <p:nvPr/>
        </p:nvSpPr>
        <p:spPr>
          <a:xfrm>
            <a:off x="9948672" y="5047488"/>
            <a:ext cx="841248" cy="164592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pPr algn="r"/>
            <a:r>
              <a:rPr sz="700" b="1">
                <a:solidFill>
                  <a:srgbClr val="B42318"/>
                </a:solidFill>
                <a:latin typeface="Aptos"/>
              </a:rPr>
              <a:t>CONTAIN</a:t>
            </a:r>
          </a:p>
        </p:txBody>
      </p:sp>
      <p:sp xmlns:a="http://schemas.openxmlformats.org/drawingml/2006/main">
        <p:nvSpPr>
          <p:cNvPr id="51" name="TextBox 50"/>
          <p:cNvSpPr txBox="1"/>
          <p:nvPr/>
        </p:nvSpPr>
        <p:spPr>
          <a:xfrm>
            <a:off x="8778240" y="5239512"/>
            <a:ext cx="804672" cy="256032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r>
              <a:rPr sz="1600" b="1">
                <a:solidFill>
                  <a:srgbClr val="0A1220"/>
                </a:solidFill>
                <a:latin typeface="Aptos"/>
              </a:rPr>
              <a:t>4m 18s</a:t>
            </a:r>
          </a:p>
        </p:txBody>
      </p:sp>
      <p:sp xmlns:a="http://schemas.openxmlformats.org/drawingml/2006/main">
        <p:nvSpPr>
          <p:cNvPr id="52" name="TextBox 51"/>
          <p:cNvSpPr txBox="1"/>
          <p:nvPr/>
        </p:nvSpPr>
        <p:spPr>
          <a:xfrm>
            <a:off x="9601200" y="5276088"/>
            <a:ext cx="841248" cy="164592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r>
              <a:rPr sz="800" b="0">
                <a:solidFill>
                  <a:srgbClr val="475467"/>
                </a:solidFill>
                <a:latin typeface="Aptos"/>
              </a:rPr>
              <a:t>P95 credit</a:t>
            </a:r>
          </a:p>
        </p:txBody>
      </p:sp>
      <p:sp xmlns:a="http://schemas.openxmlformats.org/drawingml/2006/main">
        <p:nvSpPr>
          <p:cNvPr id="53" name="TextBox 52"/>
          <p:cNvSpPr txBox="1"/>
          <p:nvPr/>
        </p:nvSpPr>
        <p:spPr>
          <a:xfrm>
            <a:off x="8778240" y="5532120"/>
            <a:ext cx="1783080" cy="146304"/>
          </a:xfrm>
          <a:prstGeom prst="rect">
            <a:avLst/>
          </a:prstGeom>
          <a:noFill/>
        </p:spPr>
        <p:txBody>
          <a:bodyPr wrap="none" anchor="t" lIns="18288" rIns="18288" tIns="18288" bIns="18288">
            <a:spAutoFit/>
          </a:bodyPr>
          <a:lstStyle/>
          <a:p>
            <a:r>
              <a:rPr sz="700" b="0">
                <a:solidFill>
                  <a:srgbClr val="475467"/>
                </a:solidFill>
                <a:latin typeface="Aptos"/>
              </a:rPr>
              <a:t>8.7% timeout / 4 open</a:t>
            </a:r>
          </a:p>
        </p:txBody>
      </p:sp>
    </p:spTree>
    <p:extLst>
      <p:ext uri="{BB962C8B-B14F-4D97-AF65-F5344CB8AC3E}">
        <p14:creationId xmlns:p14="http://schemas.microsoft.com/office/powerpoint/2010/main" val="18103196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125512-6AB6-445A-A84A-335DB149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A50C2-D9E0-4BAD-BE97-378DDDD2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1C0ED-E912-40D0-95E1-7F94BD10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PROVIDER PERFORMANCE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AA306-27B1-477F-8AFD-B895688F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286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Provider routing becomes a management decision backed by current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4859D-DE97-44F3-B24B-00ADD1EA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828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In the active window, INSWITCH makes the provider stance plain: prefer Moniepoint for eligible new local payouts, contain NIP pressure, and keep Paystack behind stronger rails until callback lag clears.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F8EB5-FC58-40BE-A1DF-1637F644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E9D75-80E1-4DED-9CB1-0325B9F6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P95 credit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6F5D0-8857-4FC3-A5BC-9FA52DF6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Moniepoint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6726A-067D-4B40-938D-5BCBCDAA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528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676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67647"/>
                </a:solidFill>
                <a:latin typeface="Aptos"/>
                <a:ea typeface="Aptos"/>
                <a:cs typeface="Aptos"/>
              </a:rPr>
              <a:t>41s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DB7EA-5CBA-4DE1-82C5-DA8F9216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3905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8020F-0B15-43FC-9950-78C836C4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76313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76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A93A6-15FD-4A94-87B4-DE18F903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Interswitch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EDA20-19E7-4F89-AD9D-C39C64BE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6720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52s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8661D-CD0F-4F72-AEDC-047FEDDD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3905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0858E-1322-4927-91FD-8E7EE70D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124968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AB076-9D81-4306-89D1-F7352487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Paystack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671D9F-278E-47D3-8743-3CF15C11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81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1m 26s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3DF8FF-22F1-46E3-96F9-AAB56C1C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3905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8CC0F-A406-4602-A6A6-45FD2B37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2069783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376F8-17E1-48E3-98D6-4857B7CC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9900"/>
            <a:ext cx="4476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03DB3-C10D-4EAB-BD49-57FBF074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Operating stance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DEEA5B-7DC6-4CCA-B197-F48A94ED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52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067647">
                <a:alpha val="2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358FF4-5D46-4A03-9B88-A014160D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67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6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6B0B29-9E03-4473-A525-2F150A08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76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7647"/>
                </a:solidFill>
                <a:latin typeface="Aptos"/>
                <a:ea typeface="Aptos"/>
                <a:cs typeface="Aptos"/>
              </a:rPr>
              <a:t>Moniepoint / increase eligible traffic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36B355-DC75-4529-A46B-26ECA64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2910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756D9">
                <a:alpha val="2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E6A6D7-BAD5-44FB-927A-15B929E5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434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69A740-7B92-4472-BB97-EE0E9E86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957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Interswitch / monitor closely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C6E63F-6291-4CDF-81AD-6372017C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053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B54708">
                <a:alpha val="2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FBBD1F-2C0F-4F71-A8AE-F2BC423C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196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12DD5D-C6F4-477A-8FE1-D724002A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7202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5470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54708"/>
                </a:solidFill>
                <a:latin typeface="Aptos"/>
                <a:ea typeface="Aptos"/>
                <a:cs typeface="Aptos"/>
              </a:rPr>
              <a:t>Paystack / callback watch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D026B0-BD84-4DD9-8186-1974913D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The value is not “routing for routing’s sake.” It is measurable operational control before the next batch of customer-impacting transfers is sent.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A14782-EEBD-4F16-92F7-5A4449E2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1C1F0F-ABA1-4027-AA7B-5C01336A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CloudSpace Technologies / INSWITCH CIO-ED briefing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E99A21-7541-4AE8-B060-94C85E0E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09243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9A7A4D-F628-410C-8AAC-C4B6D3BE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6749E-BFEA-44E4-A640-143089CF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10A5F-1B6B-460C-A0AD-3A3195D8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REPAIR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3785A-073E-4B4E-AEB8-7021620A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191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The platform blocks unsafe closure until evidence and reason are present.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08B59-4BBD-4153-9727-2254D1F4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For high-value bank operations, buttons are not enough. INSWITCH structures each remediation case as a controlled sequence that can survive audit, customer escalation, and reconciliation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86F78-1E5F-4C8D-B5FE-3B5E3A34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885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756D9">
                <a:alpha val="2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AD487-5177-47C7-80D8-FEC11BB2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Choose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F9A39-6424-4476-B85D-93364085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Attach evidence, manual requery, completed outside platform, or reversal.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A3D1B-B338-43C7-8FBC-03BFB614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005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BA565-728A-4EC7-8090-C4CFD1BB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52875"/>
            <a:ext cx="104775" cy="1047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869C0-26C1-4F02-802C-A89933E0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52800"/>
            <a:ext cx="1885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B54708">
                <a:alpha val="26667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FC893-932B-427A-B94D-B0A86BF4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052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Enter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8E3AB-87E9-4334-A621-0F1A5506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909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Specific reference: TSQ, NIP Session ID, callback, ledger posting, settlement batch.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42FDE-4CBD-4373-BF2F-4A7ADAEC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005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549C4-3F1E-42CC-A957-0F67D424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52875"/>
            <a:ext cx="104775" cy="1047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911FD-9D99-4A91-8FF8-42E6F457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52800"/>
            <a:ext cx="1885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B54708">
                <a:alpha val="26667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8E28B-9D2D-4403-A25E-7D6CE93A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052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Enter reason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534FDB-D564-4ABF-BD03-A7D8290C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909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Operator states the checked source and why the action is safe.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8111D4-E16D-462D-B703-AA2ACE81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671BF-A5D8-4398-BA49-0EE861E7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952875"/>
            <a:ext cx="104775" cy="1047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24FA67-84CE-49ED-9CDD-9AC84D77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52800"/>
            <a:ext cx="1885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756D9">
                <a:alpha val="26667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11DF8F-CB90-481A-A88D-18813E5A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052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Review checklist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C7A74-2D37-41F4-A2E3-73D34C35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909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Duplicate-credit risk, maker-checker, settlement link, customer value proof.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411960-8EF4-42A5-A73D-FCCFA97C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E1C61-0CDA-41AA-85AF-BE7D834A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952875"/>
            <a:ext cx="104775" cy="1047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94A889-5731-408F-B012-E407E240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52800"/>
            <a:ext cx="1885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067647">
                <a:alpha val="26667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9177C3-89F7-45F0-9903-818891B3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052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Submit audit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7E3881-9EEF-46DA-B449-D2F76E88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909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New state, evidence record, and immutable action trail.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768156-0B6A-444B-86A9-943BF490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This is how CloudSpace positions INSWITCH to the bank: not as a monitoring screen, but as an operating control that reduces discretion where discretion creates loss.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119C7C-77C0-4569-92D6-A94A08CD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96203D-F599-445F-B3E5-EE8F93C3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CloudSpace Technologies / INSWITCH CIO-ED briefing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D6D67C-983B-453D-BF00-DCBB7A10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105673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E5CF51-7702-44BE-B1E5-38F48D61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A4192-D3C9-4C8B-BE2F-6738DA9C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E1A13-A32F-4A3B-9672-0A075CB2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EVIDENCE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67B3D-E977-4E0B-8887-1FEDBB4B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 Nigerian payments case is only closed when the bank can defend the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6EC7F-8F49-487D-B199-5E1125D2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81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The platform speaks the language of NIP and Instant EFT operations while preserving the bank’s governance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A0A60-00D5-4B67-B92E-76665F20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E92BD-76C5-459D-8DAF-07FE13FB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NIP Session 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F58CB-D20C-406F-85F2-3B9149F8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Rail/session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F704B-F42F-4D8F-8AB3-424756F3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670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5A42E-B892-401D-B473-09737A70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76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TSQ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B93ED-93E2-4D67-A186-5E342AD2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81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Status query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CF57A-A626-49C1-B30C-73CBD6C3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670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3F6DE-D17E-4720-898A-3D80432E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76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Receiving Entity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AC0A7-1F6C-4EF8-AC18-3F4C4A47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81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Destination-bank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008AF-C779-4635-8D01-DC2CDEDD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8B1F01-AA15-4DC6-BA40-1B10FBB2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Core ledger posting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0C808-B320-43CD-AFA6-570B4477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Bank-of-record 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6997D-C58D-4F58-9A54-AD8B5672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910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69D7D-AE17-488F-8112-0633BEF7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00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Settlement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023A4-00A4-4FBD-8D82-F93E0057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053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Batch and reconciliation link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04467-2C17-4500-AACD-FB7CFF69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910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625670-52D9-45F6-B154-95A120B5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00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Operator reason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A1890F-ACE0-4CF1-8EA2-B1600AF6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053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Maker-checker and audit trail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DF324E-7EDF-4559-BAD8-0CC8BF76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756D9">
                <a:alpha val="2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86FC57-739A-41EE-B9C1-7F93F98F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BC1B88-00BB-4E3C-956C-A8D7B3B9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48325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NIP / Instant EFT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553FAC-A75E-4290-AB29-A19A0897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816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B54708">
                <a:alpha val="2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5C0BEA-3207-413A-8557-2D729267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695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F8E205-FBE8-4747-893E-0A1D9587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48325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5470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54708"/>
                </a:solidFill>
                <a:latin typeface="Aptos"/>
                <a:ea typeface="Aptos"/>
                <a:cs typeface="Aptos"/>
              </a:rPr>
              <a:t>Reversal control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8E9AA2-6C0A-4BC4-BB82-ADE30534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5816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067647">
                <a:alpha val="20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6EC0FE-7515-482F-9D7A-007AB744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695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6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B01169-6605-47E1-8070-BC584017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4832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76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7647"/>
                </a:solidFill>
                <a:latin typeface="Aptos"/>
                <a:ea typeface="Aptos"/>
                <a:cs typeface="Aptos"/>
              </a:rPr>
              <a:t>Audit ready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E5C3CE-B746-4F88-8BD2-D11A16A4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751E45-DC85-4C96-AAC9-CB4B3DE4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Terminology aligned to NIBSS/CBN Instant EFT operating language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F21CBF-6639-4973-AFE6-208EAD30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413759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5819DB-AB50-4C80-9AE1-4075EA13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2FA62-36A8-4AA9-B75E-901B6873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E1628-DE47-43EF-A34F-096C003A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ARCHITECTURE FOR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DB695-5BAB-45AB-A861-73B90F75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667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INSWITCH is designed to fit bank architecture, not fight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07891-E040-4579-A2CE-2A1BC5B8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8667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CloudSpace Technologies delivers a switching and operations layer that integrates with existing channels, approved local providers, core ledger evidence, reconciliation files, identity controls, and MariaDB-backed audit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13E71-65D9-42C7-B92E-97BBA5C5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2247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A38A3-61B6-4B62-878E-91483A01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Bank / partner channels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F1879-385A-402D-BF42-CB4418AE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943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API intake, idempotency, contract scope, user permissions.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863A8-995B-4C49-BF35-4EA0B272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338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F02D5-21B9-46D7-8D5A-46A057F9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686175"/>
            <a:ext cx="104775" cy="1047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2DEEE-4483-4A2A-96B8-A6324715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24200"/>
            <a:ext cx="2857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756D9">
                <a:alpha val="26667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D99B2-AE43-46BE-B5C5-510896E2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766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INSWITCH control plane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711D7-681D-4F91-B645-60F3C6D5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62350"/>
            <a:ext cx="255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Route policy, health windows, SLA clocks, requery/backoff, case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E6677-09C3-4AD5-8B00-D046AEFA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338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5A3E3-EFEB-47EB-82A5-429EFFDC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86175"/>
            <a:ext cx="104775" cy="1047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48725-EF90-4B5F-8293-D96EF093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24200"/>
            <a:ext cx="2781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067647">
                <a:alpha val="26667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B4B26-D73E-4EDE-80F3-9FA75232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76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Local payment providers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B3FDC5-72F7-4C8D-989F-B33154B7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623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NIP, Moniepoint, Interswitch, Paystack, approved bank endpoints.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DF5B4-1F9E-41C3-942E-29EAE683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006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B54708">
                <a:alpha val="26667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B18D3-20D3-4814-B53E-5FE0CB13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9530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Evidence and audit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CF0DB7-F601-457B-B39C-B6E6D8E9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238750"/>
            <a:ext cx="2552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provider_calls, outcome_evidence, remediation_cases, reconciliation_matches, audit_events.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7D1EF-B4BC-4185-838E-F2432584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Database target: MariaDB. The platform model avoids introducing a competing ledger of record.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BDCAC8-3DAF-4448-9E10-C05EE7E6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B47C29-34CF-4D66-8602-519E609A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CloudSpace Technologies / INSWITCH CIO-ED briefing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445DC-6DBB-4740-AE20-AA712902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504651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D201F8-1DA2-408C-B095-210D41AA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1C702-D599-4D32-8F29-DB334722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71DDE-309C-4C07-9D5F-04079C1D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VALUE BY EXECUTIVE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D74B5-CBC7-44E8-B8BB-5A11AB59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191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The enterprise case is cross-functional, which is why it belongs with the CIO and 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317A2-DF92-4E33-A576-EE544D83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INSWITCH creates one operating source of truth across the teams that normally chase the same failed transfer from different systems.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C00CB-9FA9-4035-BB51-CE7DF774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942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ECA43-7920-41AF-A72B-53CF5233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1942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CIO / Technology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CAA86-9E86-4FB6-9919-83AC7BAF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One governed integration layer instead of route-specific exception tooling.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31DBA-5247-4A31-8CC1-044E0384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942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CECB2-58C5-49BB-B038-9EF55A28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6712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ED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0E473-6183-407A-9455-63D14E88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576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Reduced manual chase, cleaner handoffs, and visible ownership of high-value repair cases.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43286-8075-4B87-9188-802B24ED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942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7DF69-F367-4D51-B2DB-751F1808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Risk / Compliance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D3352-E7BE-42D7-A9DE-54602E67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Evidence-led closure, maker-checker control, and audit history for disputed outcomes.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BF791-83F5-4D90-ADE0-34960D19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942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2DA39-9DD9-4A7B-B828-9885FF10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6252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Treasury / Settlement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DDE18-A727-4AFD-B891-A15C519D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530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Provider pressure, settlement session context, and reconciliation breaks surfaced earlier.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CF14B-7A7D-4E2B-86D2-3D8F914F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942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41D1BA-1EFC-48E1-BF54-459D503A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1022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Customer Experience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EE905-C728-4977-836A-94B58FAA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6007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Faster, more defensible answers when customers report debit-without-credit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C1B27-466E-4C73-B5C1-7334E53D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C19FAF-B0BE-4825-A58E-28230ABB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CloudSpace Technologies / INSWITCH CIO-ED briefing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89063-AD33-4305-88F5-F97280ED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503665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27D5ED-B6B0-4538-ABBA-E34B7B22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5ED9F-5118-465F-A9CA-4D0B7EAE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7E356-846B-4242-911A-20570897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IMPLEMENTATION CONFIDENCE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424C3-9315-4089-A26C-67D00ECC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38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CloudSpace can take the bank from executive approval to controlled pilot in 90 days.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E57F5-0660-478C-9E4D-050C417B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838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The deployment path is staged to protect production settlement operations while proving value against real exception queues and provider telemetry.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2C448-E74A-4770-B00C-B2D1A57B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24574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C1792-CA2C-4DAE-AF0B-60E52D90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756D9">
                <a:alpha val="2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AE841-4702-49D6-B8F3-376B2D26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3C6F3-53B7-4F1E-9245-EF742C03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5757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Weeks 1-2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F66F3-B99C-4A90-BFC2-E4293862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Architecture and controls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EBCC1-BD74-4450-99B8-A1CC19DA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Confirm routes, contracts, data fields, identity model, approval workflow.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C326A-CB3D-4945-AE2D-9813997C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24574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592A2-136B-487A-95CF-AFB46F6A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90900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756D9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60493-B840-4257-ABC3-395FE078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052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A206F-64ED-4DA5-A3D6-852FDFB6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5757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Weeks 3-6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5565E-A04C-4D88-8FBE-C4597472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Integration 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6AF97-6BCA-4B63-BF8A-080E67DD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100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Connect intake API, provider status sources, callback flow, ledger/reconciliation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7B003-E2F5-4D2A-9707-9BB076D6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81350"/>
            <a:ext cx="24574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02408-C332-4757-B0C8-A7175A1E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90900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756D9">
                <a:alpha val="2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CECFEE-0C90-46B3-B2B3-AC1A3AD2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052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DFE26-BE88-439F-AAA2-8AEBFD8C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Weeks 7-10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C4E3FF-D520-4275-8420-9E04EE03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481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Pilot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30415F-85EF-4D4B-B694-9A73100C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00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Run selected corridors/providers with Payment Ops, Settlement, Risk, and CX.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D7613A-CDBA-4C71-8555-EA9199A6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81350"/>
            <a:ext cx="24574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9DA5ED-84A4-4C2B-A57D-CE0F01A5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90900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756D9">
                <a:alpha val="2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150CB7-B84B-4CE0-8A8D-4CCCCC79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052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C5FDFE-242B-44A8-B6F2-49802D94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5757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Weeks 11-12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6B8DC3-3E71-4318-9C90-A254F813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481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Go-live 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6F7B89-109B-48EB-AE2E-EA64DBA1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100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Review pilot evidence, finalize SLA policy, train operators, approve production rollout.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77C924-7D04-4091-968D-96F820A8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The pilot is measured on real bank outcomes: unresolved cases, requery turnaround, reversal safety, provider routing stance, and evidence completeness.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4ED422-9E30-4C73-9149-9B28FC13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FF872B-47C6-4545-BF0B-B76AB0A9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CloudSpace Technologies / INSWITCH CIO-ED briefing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215889-FEEA-4BD4-8751-56761991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3700341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C52D6E-1792-4804-8CA9-CD4E8794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75B79-9381-45D5-9C51-C2000D6A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E6E5D-52C5-4ADC-BF60-1EDBEA8D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COMMERCIAL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7E92F-0B4F-4D0B-B412-DD8AC894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An enterprise platform decision must be justified by avoided loss, reduced operating drag, and protected digital confidence.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A9E43-33CC-4E14-AE9B-B0813B85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885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CloudSpace Technologies should position INSWITCH as infrastructure for settlement reliability, not as a collection of screens. The pilot should establish measurable value before full rollout.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F8396-EEBF-4176-9163-17226319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4574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AB5B4-9601-4F2D-BEFC-A1855D6B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Avoided exposure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2B8E7-8E50-41F3-88BF-FE059E24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038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Duplicate-credit risk, unsafe reversals, unresolved suspense and settlement breaks.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62CE5-2C74-48C4-A984-4A850ACE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81350"/>
            <a:ext cx="24574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1DD23-ED64-4682-A732-ABF89C83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290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Operational efficiency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9C6B6-51D6-409C-A737-0A739995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29050"/>
            <a:ext cx="2038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Less case chasing across portals, mail, chat, spreadsheets, and core lookups.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EB269-2D30-4E03-8DFB-644865D9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24574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F6509-2985-4091-A1C7-905ACA4F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Provider leverage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9941C-1487-4A99-8791-67805C59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2038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Objective evidence for routing decisions and partner escalation.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F2791-B4CD-4C3E-A283-E6415915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81350"/>
            <a:ext cx="24574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2199A-3D5A-4668-8482-1B7DCF6D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290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Customer protection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631E7-B671-4EB5-A680-8C7D687F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29050"/>
            <a:ext cx="2038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Faster answers and fewer unresolved debit-without-credit journeys.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755C6F-5649-43E9-80AB-6E3ECE76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756D9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0A8ADE-A68B-4657-92EE-CE4A7CB7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67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04A084-2166-4709-824A-F94C7816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1972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Pilot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914BD-83F7-4254-A759-82C14685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3530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067647">
                <a:alpha val="2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2E744C-C44D-4005-BE3B-91C6DDC4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67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6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FCD090-BB69-47A2-9A51-0A1C48E7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19725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76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7647"/>
                </a:solidFill>
                <a:latin typeface="Aptos"/>
                <a:ea typeface="Aptos"/>
                <a:cs typeface="Aptos"/>
              </a:rPr>
              <a:t>Measured reduction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5124FD-7B35-4DA1-AC7C-3BDEC089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530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B54708">
                <a:alpha val="2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68FFE-AC1B-43CB-9377-CF7650FC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67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54678A-4D48-44D7-830E-F7157EBF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19725"/>
            <a:ext cx="135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5470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54708"/>
                </a:solidFill>
                <a:latin typeface="Aptos"/>
                <a:ea typeface="Aptos"/>
                <a:cs typeface="Aptos"/>
              </a:rPr>
              <a:t>Board-ready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E8E2B7-EEC4-44AD-B9BB-030B2042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Do not sell the UI. Sell measurable control over where money, proof, and accountability sit when the local settlement leg misbehaves.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DA49B9-B816-4579-9CB8-B1BC6D82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8E0AE9-E6A7-4E3E-8D9E-5F830B3A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CloudSpace Technologies / INSWITCH CIO-ED briefing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60D180-8FBB-4D20-96A4-D78DA964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3618224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7F38BF-3DCB-4D2B-9D00-FF5F314A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4C554-0025-4453-9E98-DCA4F50E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CAEE9-EE84-4342-BFD1-E14F1BC0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ENTERPRISE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2DE1A-048D-46BA-A33A-ADD03C69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The platform is designed for bank governance from day 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EAFCE-56BB-4208-ABA8-BA45FB47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For a CIO/ED buyer, implementation confidence matters as much as product capability. INSWITCH should be presented as controlled, auditable, and compatible with bank operating standards.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AE773-6884-49FB-9237-F224C8B7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08B61-46D9-4075-85B3-AC19E6DE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Identity and roles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723C6-0EBF-4879-B5A6-D3F01C2C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Operator, checker, admin, auditor and viewer permissions with bank-context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BDB8A-5FD1-42CA-9310-6027296E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9085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117D6-AC24-4B2D-B36A-96E0BCDB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623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Maker-checker 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C1A7A-2A06-4506-BBDA-CCC6CBE5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480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Closure, reversal, and manual-completion workflows require evidence and reason.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42B76-39B4-4603-97FD-0351A07A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9085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AD682-A06C-433F-ABC6-7AB613C5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623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Audit event trail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B6AA4-DD50-49B6-8AD0-B08CA86F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480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System and operator actions are retained against the instruction and repair case.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B0B20-9BDE-4121-AB54-C249CBB3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6D60C-6057-45E7-96BC-6303351C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MariaDB data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78F29-6C3C-4D50-9D2E-A76C3B79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Operational records align to incoming instructions, route decisions, attempts, calls, evidence, reconciliation, and audit.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86DB8-5044-4714-933D-81310474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5290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B3317-555C-46D2-B456-CD646D4C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Feature controls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B402E-B788-4D41-AC29-BDC83B34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101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Advanced modules remain disabled until the bank chooses to expand scope.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E5C74-B0AB-4C0F-B84B-5687B2E0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5290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44DD6C-4DF4-4D0B-B91F-ADD6C598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243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Operational telemetry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2F7E97-E08E-40F4-9947-96CDBE47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101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Provider endpoints, callbacks, polling freshness, and API health are monitored separately from business cases.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E8FFC2-B8FA-4265-9396-2F91E950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1D761A-C247-44D0-ACFC-F6644BB9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CloudSpace Technologies / INSWITCH CIO-ED briefing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C30600-9EB2-476E-9BD9-350775C2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6049118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E64FFD-1981-4A24-B489-F25D430D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4F38B-CA89-44B6-9300-06F66F3E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CloudSpace Technologies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9C450-1DA3-4BD2-9C49-08D42559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INSWITCH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F7252-0198-4C2A-A75F-E486C0C8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Product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8F403-2B1B-4161-ACED-F57E51B5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The following screens are not the pitch. They are evidence that the operating model is already visible in the deployed INSWITCH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73AE6-7A67-4B75-B452-5E572D9F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AB4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B4FF"/>
                </a:solidFill>
                <a:latin typeface="Aptos"/>
                <a:ea typeface="Aptos"/>
                <a:cs typeface="Aptos"/>
              </a:rPr>
              <a:t>imsi.cloudspacetechs.com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C2EB6-0CE8-4CB4-8348-B5F92CBB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79D02-5C16-428F-97F7-373D1C7A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Live product screens appended after the executive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912BE-3CD3-4C38-8F82-48BA6737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3052211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CB2D91-F1B3-4B78-9CD6-484B66BE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2CABE-9A14-4C68-B31F-75E466E8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8FEE3-BB9C-433F-8F75-AABD4261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LIVE PRODUCT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80A3E-629B-4C77-A91C-F4865BC5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Command Center: the CIO/ED can see exposure and provider stance immediately.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E9FD6-EE13-4A27-B260-BB846712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781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The dashboard now says plainly that Moniepoint is outperforming NIP, Interswitch, and Paystack in the current local-provider window.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EEFE9-AB1D-4E91-ACED-D2BBC12B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1346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30b5c6a7b4f66"/>
          <a:srcRect xmlns:a="http://schemas.openxmlformats.org/drawingml/2006/main" l="0" t="31241" r="0" b="312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971800"/>
            <a:ext cx="9944100" cy="2590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50F20-6EE5-48AE-822B-C4698083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986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Command Center / deployed INSWITCH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EEB76-91B8-4322-9EA4-55284A32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B03B2-AC80-428F-99B2-9CE83103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CloudSpace Technologies / INSWITCH CIO-ED briefing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675EA-FA34-498F-B9C7-DB1BC2CC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4402321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0F64D3-17DA-48BD-ACB3-53F7A8F4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43D35-4009-4392-9B0F-EAB0510A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50BC1-A70E-4452-97FE-9101D929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LIVE PRODUCT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7F182-9982-42CC-BF2C-11DC9A2A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Exception detail: operators repair with evidence, not instinct.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6EADF-2AA4-49D1-83B7-CF16FAAB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781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The case workspace shows owner, route, value at risk, evidence gaps, backoff/requery state, and closure guardrails.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97E95-EEAE-4C46-80B6-64D911D5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1346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f59b34b0a4faf"/>
          <a:srcRect xmlns:a="http://schemas.openxmlformats.org/drawingml/2006/main" l="0" t="31241" r="0" b="312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971800"/>
            <a:ext cx="9944100" cy="2590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F5162-C9D5-4723-80C5-6C9521FE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986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Exception workspace / evidence-led repair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59F72-E901-4B5B-A2EA-40A10141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65EA0-0687-4051-92AA-4C1153A6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CloudSpace Technologies / INSWITCH CIO-ED briefing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EB6AF-042B-4C0F-B8DF-AC81F7CE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2347972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F02B2D-BA6D-4276-AC0A-66194F68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A7C53-1FC2-470C-B1D1-7444C0B5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50FF4-C70C-4DB9-BBD1-FC2DA5DD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LIVE PRODUCT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E5064-6FB7-46CA-B8F3-4CC3E538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477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Routes and integrations: provider decisions and API readiness are managed separately.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1B390-6252-4FCD-88DA-6C7CB586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47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The bank sees which local provider should receive new eligible traffic while technical teams watch endpoint freshness, callbacks, polling, and last successful 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94A41-9312-48D3-B7CD-6A822A43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8196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ab2ab9a8749f7"/>
          <a:srcRect xmlns:a="http://schemas.openxmlformats.org/drawingml/2006/main" l="0" t="11481" r="0" b="11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990850"/>
            <a:ext cx="462915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7C9D0-7E03-4CE5-AF73-FEA800CA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455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Route performance and traffic stance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FBDB9-2429-448C-8806-EF011FFC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95600"/>
            <a:ext cx="48196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a095756014d5b"/>
          <a:srcRect xmlns:a="http://schemas.openxmlformats.org/drawingml/2006/main" l="0" t="11481" r="0" b="11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2990850"/>
            <a:ext cx="4629150" cy="2476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384E0-A518-4EDF-8863-03D1CAF4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24500"/>
            <a:ext cx="455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Switching API and provider endpoint 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6E3EA-81FE-4475-B461-9695F0E6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D1DD5-C0E4-4E9D-82E6-5A755243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CloudSpace Technologies / INSWITCH CIO-ED briefing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812A3-907B-4DE2-9DEE-F93F0710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884675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44CFB1-1E3D-4A73-9244-5FC768F0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9F563-BEAA-4C5A-8D4B-0976B021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CloudSpace Technologies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A0313-DE51-41E8-A91F-152B07A4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INSWITCH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6CCD3-CE61-4A25-B5FC-AEBC5DE6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Decision requested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D9425-FC8D-428F-A828-EEB616A9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Approve a controlled INSWITCH technical-commercial workshop with CloudSpace Technologies, focused on one high-volume local settlement use case and one international partner corridor.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63DC1-5412-47A3-BDAA-99A2C475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105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1C04A-E644-4D2F-8788-0D3E49E5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756D9">
                <a:alpha val="2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991BE-5250-469F-90B9-C55BC1F5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D994C-3EB0-4B84-BD62-3A2186CD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71925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1. Next 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4C758-D494-495F-A9F4-95897638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Architecture workshop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0F59E-6242-4245-BF40-FC92C273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Confirm channels, provider routes, identity, evidence fields, and risk controls.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81830-CE61-4F03-9DBA-7BDF6788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62350"/>
            <a:ext cx="3105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37053-48E9-4CF2-B736-6AA72A80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067647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DA957-B4A3-49E6-8A3E-55835364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19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76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09F6F-29E6-430A-ABC4-CEB015C8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71925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76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7647"/>
                </a:solidFill>
                <a:latin typeface="Aptos"/>
                <a:ea typeface="Aptos"/>
                <a:cs typeface="Aptos"/>
              </a:rPr>
              <a:t>2. Next step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E46CD-3F7B-4966-99DA-F11C66D4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24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Pilot scope and metrics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90B0F-B3AE-4D43-8AA0-18FC971E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910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Select live-use corridors, baseline unresolved cases, and define approval gates.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5A70E-E749-421F-9039-66772FD3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62350"/>
            <a:ext cx="3105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C8A10-C8B7-4203-AAAD-18A9BCA2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052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B54708">
                <a:alpha val="2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510AA-E7C2-418D-801B-FB2CEF58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19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D185C4-3C5C-4E11-B73A-6F7EF3AC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71925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5470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54708"/>
                </a:solidFill>
                <a:latin typeface="Aptos"/>
                <a:ea typeface="Aptos"/>
                <a:cs typeface="Aptos"/>
              </a:rPr>
              <a:t>3. Next step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DFC489-F59C-4717-B61B-03ACC2A6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24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Commercial approval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112E66-0518-47D3-B2F5-43DC1CBB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910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Finalize enterprise license, implementation support, SLA, and rollout governance.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39251F-62EE-4EBF-A25C-B6757F91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INSWITCH should be evaluated as settlement reliability infrastructure: switching, repair, evidence, and control for the bank’s local final leg.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BC22C0-21C4-4695-A144-CF3183B4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6D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6D9"/>
                </a:solidFill>
                <a:latin typeface="Aptos"/>
                <a:ea typeface="Aptos"/>
                <a:cs typeface="Aptos"/>
              </a:rPr>
              <a:t>cloudspacetechs.com / imsi.cloudspacetechs.com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03FDB6-A118-442E-AE4D-2593DBAA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5BFAA0-CE3B-42F8-9F25-17B7C255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Prepared by CloudSpace Technologies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7523E6-FF05-4747-9D45-368E1BF5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19282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2026-06-04T04:52:27.7390000Z</dcterms:created>
  <dcterms:modified xsi:type="dcterms:W3CDTF">2026-06-04T04:52:27.7390000Z</dcterms:modified>
</coreProperties>
</file>