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eadcb00ada42a8" /><Relationship Type="http://schemas.openxmlformats.org/officeDocument/2006/relationships/extended-properties" Target="/docProps/app.xml" Id="Rb085864d43db4444" /><Relationship Type="http://schemas.openxmlformats.org/officeDocument/2006/relationships/officeDocument" Target="/ppt/presentation.xml" Id="Rb4e1f67f9965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1d8365b8b5432e"/>
  </p:sldMasterIdLst>
  <p:notesMasterIdLst>
    <p:notesMasterId xmlns:r="http://schemas.openxmlformats.org/officeDocument/2006/relationships" r:id="Rffbb150e276d4700"/>
  </p:notesMasterIdLst>
  <p:sldIdLst>
    <p:sldId xmlns:r="http://schemas.openxmlformats.org/officeDocument/2006/relationships" id="256" r:id="R03bbaf48c5ca4b2b"/>
    <p:sldId xmlns:r="http://schemas.openxmlformats.org/officeDocument/2006/relationships" id="257" r:id="R219ee7e3ee014e90"/>
    <p:sldId xmlns:r="http://schemas.openxmlformats.org/officeDocument/2006/relationships" id="258" r:id="R748468ed482442e9"/>
    <p:sldId xmlns:r="http://schemas.openxmlformats.org/officeDocument/2006/relationships" id="259" r:id="Rf6c6ea87a1f943cf"/>
    <p:sldId xmlns:r="http://schemas.openxmlformats.org/officeDocument/2006/relationships" id="260" r:id="Rbf6f0726827245ae"/>
    <p:sldId xmlns:r="http://schemas.openxmlformats.org/officeDocument/2006/relationships" id="261" r:id="Re2b8eabe545b4051"/>
    <p:sldId xmlns:r="http://schemas.openxmlformats.org/officeDocument/2006/relationships" id="262" r:id="Rb5095367ef9245c5"/>
    <p:sldId xmlns:r="http://schemas.openxmlformats.org/officeDocument/2006/relationships" id="263" r:id="R54d9c387c9694bad"/>
    <p:sldId xmlns:r="http://schemas.openxmlformats.org/officeDocument/2006/relationships" id="264" r:id="Re221bf585ddf46cb"/>
    <p:sldId xmlns:r="http://schemas.openxmlformats.org/officeDocument/2006/relationships" id="265" r:id="R2aae0a0448464de4"/>
    <p:sldId xmlns:r="http://schemas.openxmlformats.org/officeDocument/2006/relationships" id="266" r:id="R448bbe8c41e34c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d8365b8b5432e" /><Relationship Type="http://schemas.openxmlformats.org/officeDocument/2006/relationships/theme" Target="/ppt/theme/theme1.xml" Id="Rc62db67fc28e4a61" /><Relationship Type="http://schemas.openxmlformats.org/officeDocument/2006/relationships/notesMaster" Target="/ppt/notesMasters/notesMaster1.xml" Id="Rffbb150e276d4700" /><Relationship Type="http://schemas.openxmlformats.org/officeDocument/2006/relationships/presProps" Target="/ppt/presProps.xml" Id="R32704ab8f9124df1" /><Relationship Type="http://schemas.openxmlformats.org/officeDocument/2006/relationships/viewProps" Target="/ppt/viewProps.xml" Id="Rce5b1738ca004df8" /><Relationship Type="http://schemas.openxmlformats.org/officeDocument/2006/relationships/tableStyles" Target="/ppt/tableStyles.xml" Id="R7e004e5dd6b14278" /><Relationship Type="http://schemas.openxmlformats.org/officeDocument/2006/relationships/slide" Target="/ppt/slides/slide1.xml" Id="R03bbaf48c5ca4b2b" /><Relationship Type="http://schemas.openxmlformats.org/officeDocument/2006/relationships/slide" Target="/ppt/slides/slide2.xml" Id="R219ee7e3ee014e90" /><Relationship Type="http://schemas.openxmlformats.org/officeDocument/2006/relationships/slide" Target="/ppt/slides/slide3.xml" Id="R748468ed482442e9" /><Relationship Type="http://schemas.openxmlformats.org/officeDocument/2006/relationships/slide" Target="/ppt/slides/slide4.xml" Id="Rf6c6ea87a1f943cf" /><Relationship Type="http://schemas.openxmlformats.org/officeDocument/2006/relationships/slide" Target="/ppt/slides/slide5.xml" Id="Rbf6f0726827245ae" /><Relationship Type="http://schemas.openxmlformats.org/officeDocument/2006/relationships/slide" Target="/ppt/slides/slide6.xml" Id="Re2b8eabe545b4051" /><Relationship Type="http://schemas.openxmlformats.org/officeDocument/2006/relationships/slide" Target="/ppt/slides/slide7.xml" Id="Rb5095367ef9245c5" /><Relationship Type="http://schemas.openxmlformats.org/officeDocument/2006/relationships/slide" Target="/ppt/slides/slide8.xml" Id="R54d9c387c9694bad" /><Relationship Type="http://schemas.openxmlformats.org/officeDocument/2006/relationships/slide" Target="/ppt/slides/slide9.xml" Id="Re221bf585ddf46cb" /><Relationship Type="http://schemas.openxmlformats.org/officeDocument/2006/relationships/slide" Target="/ppt/slides/slide10.xml" Id="R2aae0a0448464de4" /><Relationship Type="http://schemas.openxmlformats.org/officeDocument/2006/relationships/slide" Target="/ppt/slides/slide11.xml" Id="R448bbe8c41e34c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1f5a07572c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fc59673aa64a59" /><Relationship Type="http://schemas.openxmlformats.org/officeDocument/2006/relationships/notesMaster" Target="/ppt/notesMasters/notesMaster1.xml" Id="Rc6c5aa2ef0ef44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cbb614e604754" /><Relationship Type="http://schemas.openxmlformats.org/officeDocument/2006/relationships/notesMaster" Target="/ppt/notesMasters/notesMaster1.xml" Id="Rd4eb84fde75d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dcd84e9fa46a8" /><Relationship Type="http://schemas.openxmlformats.org/officeDocument/2006/relationships/notesMaster" Target="/ppt/notesMasters/notesMaster1.xml" Id="R9a94bed817c64c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fc27d522844359" /><Relationship Type="http://schemas.openxmlformats.org/officeDocument/2006/relationships/notesMaster" Target="/ppt/notesMasters/notesMaster1.xml" Id="R31a161edadf345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b3a384b5064980" /><Relationship Type="http://schemas.openxmlformats.org/officeDocument/2006/relationships/notesMaster" Target="/ppt/notesMasters/notesMaster1.xml" Id="Rc09e44ce6fc1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9fe916d0fb4078" /><Relationship Type="http://schemas.openxmlformats.org/officeDocument/2006/relationships/notesMaster" Target="/ppt/notesMasters/notesMaster1.xml" Id="R7ebe1a69696745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4ac5d607e5436c" /><Relationship Type="http://schemas.openxmlformats.org/officeDocument/2006/relationships/notesMaster" Target="/ppt/notesMasters/notesMaster1.xml" Id="R38351f8b64b6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8cdd968e554031" /><Relationship Type="http://schemas.openxmlformats.org/officeDocument/2006/relationships/notesMaster" Target="/ppt/notesMasters/notesMaster1.xml" Id="R7d425942205e4a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2efca98ed147af" /><Relationship Type="http://schemas.openxmlformats.org/officeDocument/2006/relationships/notesMaster" Target="/ppt/notesMasters/notesMaster1.xml" Id="R03d1086fb4a943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932755506d4f12" /><Relationship Type="http://schemas.openxmlformats.org/officeDocument/2006/relationships/notesMaster" Target="/ppt/notesMasters/notesMaster1.xml" Id="R8844d0fd4f9a4a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4f03310d194854" /><Relationship Type="http://schemas.openxmlformats.org/officeDocument/2006/relationships/notesMaster" Target="/ppt/notesMasters/notesMaster1.xml" Id="Rf693b95f9e1e4a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ac3e1c4ff42a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26604a0942c4910" /><Relationship Type="http://schemas.openxmlformats.org/officeDocument/2006/relationships/slideLayout" Target="/ppt/slideLayouts/slideLayout2.xml" Id="Re4c8043aa39042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c8043aa39042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5149548aaa4ab7" /><Relationship Type="http://schemas.openxmlformats.org/officeDocument/2006/relationships/image" Target="/ppt/media/image.png" Id="R70a711c1b5ed4406" /><Relationship Type="http://schemas.openxmlformats.org/officeDocument/2006/relationships/notesSlide" Target="/ppt/notesSlides/notesSlide1.xml" Id="Racee9677586245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f2cdfda094799" /><Relationship Type="http://schemas.openxmlformats.org/officeDocument/2006/relationships/notesSlide" Target="/ppt/notesSlides/notesSlide2.xml" Id="R8bf9abc8233f4a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a9d6e9b944505" /><Relationship Type="http://schemas.openxmlformats.org/officeDocument/2006/relationships/notesSlide" Target="/ppt/notesSlides/notesSlide3.xml" Id="R64ca6fa5fabe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11b032e20d4689" /><Relationship Type="http://schemas.openxmlformats.org/officeDocument/2006/relationships/image" Target="/ppt/media/image2.png" Id="R55e8159b204b4c77" /><Relationship Type="http://schemas.openxmlformats.org/officeDocument/2006/relationships/notesSlide" Target="/ppt/notesSlides/notesSlide4.xml" Id="R54878a73d1f041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820d908cd427d" /><Relationship Type="http://schemas.openxmlformats.org/officeDocument/2006/relationships/notesSlide" Target="/ppt/notesSlides/notesSlide5.xml" Id="R8bdce0b8a28840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0f7180be044d0" /><Relationship Type="http://schemas.openxmlformats.org/officeDocument/2006/relationships/image" Target="/ppt/media/image3.png" Id="R9e61870ee7214e81" /><Relationship Type="http://schemas.openxmlformats.org/officeDocument/2006/relationships/notesSlide" Target="/ppt/notesSlides/notesSlide6.xml" Id="R87cfbcdf2b4d40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d07a5d5e604fc9" /><Relationship Type="http://schemas.openxmlformats.org/officeDocument/2006/relationships/image" Target="/ppt/media/image4.png" Id="R2e92f0fd040a4479" /><Relationship Type="http://schemas.openxmlformats.org/officeDocument/2006/relationships/notesSlide" Target="/ppt/notesSlides/notesSlide7.xml" Id="R36a109b0daef42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d89836131f4986" /><Relationship Type="http://schemas.openxmlformats.org/officeDocument/2006/relationships/image" Target="/ppt/media/image5.png" Id="R9cb48c2c0a61465f" /><Relationship Type="http://schemas.openxmlformats.org/officeDocument/2006/relationships/notesSlide" Target="/ppt/notesSlides/notesSlide8.xml" Id="R799de7ef5fdd47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25fceadb9482b" /><Relationship Type="http://schemas.openxmlformats.org/officeDocument/2006/relationships/notesSlide" Target="/ppt/notesSlides/notesSlide9.xml" Id="R27d4e7d5833444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df0ac06de04da2" /><Relationship Type="http://schemas.openxmlformats.org/officeDocument/2006/relationships/image" Target="/ppt/media/image6.png" Id="R6edd754f367e4e61" /><Relationship Type="http://schemas.openxmlformats.org/officeDocument/2006/relationships/notesSlide" Target="/ppt/notesSlides/notesSlide10.xml" Id="Rbdb91379fac1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1ad10a90949d1" /><Relationship Type="http://schemas.openxmlformats.org/officeDocument/2006/relationships/notesSlide" Target="/ppt/notesSlides/notesSlide11.xml" Id="R0b13494fd1f944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11037-9836-4C89-9AFA-06F65809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F487C7D2-E32D-4C2A-AECF-3B4852A6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89E3E55-609F-40B2-8A48-6C2989BB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BANK OPERATING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879D8-90B6-44D4-973E-CD0F6317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bank needs a repair-first switch, not another dashboard.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35B5E-7D5E-43A8-A1C4-0499EA11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INSWITCH gives operators one place to see failed/reversed local transfers, route health, partner SLA pressure, and switching API telemetry.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2B92D-141F-403A-97DA-9098D6A0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28650"/>
            <a:ext cx="53721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44204-9EA3-439C-A6A7-44C2457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2925"/>
            <a:ext cx="5238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515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711c1b5ed4406"/>
          <a:srcRect xmlns:a="http://schemas.openxmlformats.org/drawingml/2006/main" l="506" t="0" r="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52450"/>
            <a:ext cx="5219700" cy="3295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F682F-E1B2-4CC4-AFA0-AF1F74C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4438D-A50D-409D-A343-63B73FBC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DC9D2-B602-4AFF-8E8A-B7D852B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3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BCB0A-BE4C-4891-84A6-8195CE5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C2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C2BC"/>
                </a:solidFill>
                <a:latin typeface="Aptos"/>
                <a:ea typeface="Aptos"/>
                <a:cs typeface="Aptos"/>
              </a:rPr>
              <a:t>FAILED/REVERSED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703CF-3FD8-4A8B-AAC6-5116C70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Evidence before closure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162F0-7089-494B-9731-18579FA9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D6DA3-A05F-4AD2-8752-0B2ABF52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9CAC5-FACD-4A73-BD72-E6C579F5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386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3 /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DD703-6691-488C-B366-B400EAA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7205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C2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C2BC"/>
                </a:solidFill>
                <a:latin typeface="Aptos"/>
                <a:ea typeface="Aptos"/>
                <a:cs typeface="Aptos"/>
              </a:rPr>
              <a:t>PROVIDERS WORKING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A79B7-EF8E-423B-B800-C67E824A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43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Best performer 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FEA7D-B74C-41A2-8DD8-F8BF70CF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9580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B045A-192E-499C-9843-A35BF8A9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95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D5062-EA84-4DA6-89AB-2C724E1E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386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2 breaches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1A948-6D7E-4E16-8D04-5E618FD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7205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C2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C2BC"/>
                </a:solidFill>
                <a:latin typeface="Aptos"/>
                <a:ea typeface="Aptos"/>
                <a:cs typeface="Aptos"/>
              </a:rPr>
              <a:t>PARTNER SLAS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B1A78-E741-4FBA-8C9F-102429C1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Aged by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2EF31-EA0D-4AB7-B371-A7119249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E8D1B-F162-45F2-86C8-67DF6EA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07A25-0555-4408-AE84-A3FBF71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386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9AECD-3421-4F13-99EA-0F6B2BEA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7205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C2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C2BC"/>
                </a:solidFill>
                <a:latin typeface="Aptos"/>
                <a:ea typeface="Aptos"/>
                <a:cs typeface="Aptos"/>
              </a:rPr>
              <a:t>SWITCHING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CFF1B-8DD6-4530-8342-666667F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Telemetry current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21B92A-B0AF-4E8A-895D-D87213B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Built from the current repair-first product implementation and verified browser QA.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A36FC-DE15-48D6-BC82-980A13A2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16B8D-F1F7-4AB9-8DA3-AFDE6D0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B3"/>
                </a:solidFill>
                <a:latin typeface="Aptos"/>
                <a:ea typeface="Aptos"/>
                <a:cs typeface="Aptos"/>
              </a:rPr>
              <a:t>INSWITCH | repair-first switching operations for banks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D65D8-AE40-4E7C-AB76-159688D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47584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C7C84-D02E-403F-9351-DA8137EB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A61D2-34DE-4463-80D0-4CF0E189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7CAC4596-34E8-43FF-A8FD-1A774A8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53AE2C0-5891-49F6-8487-828F514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OPERATING FAILURE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F0652-30AE-4C4A-BB31-D18E6A23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Most settlement pain starts when outcome evidence disagrees.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19589-D990-4D39-83B8-DBFA3F8E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The operator problem is not simply failed payment volume. It is knowing whether a customer was credited, which rail owns the next proof, and which action is safe.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150AB-5EAE-443F-A347-C1E8195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37D57-3EE9-476B-A512-593C1F06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E83B6-18C1-466B-9A50-150ED1E6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Partner says paid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F527F-BDA6-41F7-B421-C7003E1D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Completed webhook or status file lands before bank proof is matched.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D175C-58B3-4C4E-B9A5-7217B863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99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016E8-9B98-4DB6-BD0F-18FF0D3F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956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3092A-779A-43FA-8222-4C55B067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95625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2A70C-209D-4719-BFE6-9F419698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Rail accepted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7B19E-C5DC-4A3F-991E-F529AEA6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76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NIP, MFB, or provider rail records a session or accepted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5DADB-C0D0-4EF0-BF52-1DCF623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99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D28CC-D6C1-435F-8E50-52713917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71659-472E-40A1-95BF-2F7B8AB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33E2F-C079-4D46-9EE3-ECB4981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194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Ledger 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F0BE5-F76C-4858-A414-46C70E48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Core ledger posting or settlement match is absent, late, or conflicting.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33057-7321-42BC-B5DE-77C415F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997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45944-533A-49DD-83F0-25252FDE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95625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388D5-0798-49BE-91FA-8C59BC28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95625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D041DE-C3B8-440C-8D5D-60BE0A3A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19450"/>
            <a:ext cx="1352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Evidence-first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120C1-26E5-43C1-9F30-7FF7E14E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76625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Requery, attach proof, approve reversal, or send to checker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859BF-8B53-49CB-BC63-AD8FD36F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A4ED3-2065-4918-A26E-C93C4F0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A226D-AE25-4B32-AD7D-ADDDB3CA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Duplicate-risk cases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3B44E-AE5A-4ED8-B7F8-15A8D70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UNSAFE TO FAIL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CC405-46A9-4A46-9EC5-E5733D5E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High-risk cases permit evidence attachment only until proof clears.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4A4A2-886D-4BFE-9DB9-C1E80BED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291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DF1DC-9AEB-436B-8829-DCC6011C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29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23F1A-F26E-4E79-9645-6AD466CB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72025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Accepted rail sessions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6FD4E-0125-4070-93E8-235B5F6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05400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UNSAFE TO REROUTE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990AB-ABAA-4809-B200-E32F9DF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768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In-flight transactions stay frozen while outcome is uncertain.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2BF41-C5D6-441C-94AA-7B01DC0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2D7A5F-BB06-4823-BF34-6C51CCAD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16811-416B-4419-B291-E8A09794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72025"/>
            <a:ext cx="3067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Audit-backed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273665-5754-4C5F-94E3-3913355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05400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SAFE TO CLOSE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AE6143-2BD1-479C-B9E4-09D3F1B1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Every manual action needs evidence reference and reason.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2B4243-2367-422E-86F9-1E4BA80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A7271D-DFA6-4786-B16B-9C886C3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Source: implemented remediation case model and outcome evidence workflow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D575D6-6E2E-4BC3-868B-979353C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50378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C15C61-1CEC-4063-9DB9-111218F4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BE9D92B-742C-494A-8FB5-9409ED9F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73F477D3-83DF-49EF-916A-0B09BCA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SWITCHING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19E2D-3DE1-4BD7-A57A-3811EAA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Switching across eligible local rails improves final-leg reliability.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4024D-5825-4717-AFC2-067E9C9D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The bank integrates once, then uses routing policy, health windows, evidence, and audit trails to reduce dependence on any single local 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FCA23-DA57-475A-8462-4B099777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057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CC312-5856-4CC7-A4F6-CE3B7866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4D94A-66D4-4E52-9246-C27A0E4C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Bank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2D9EE-3191-458D-9B98-31C021AD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Transfer instruction, idempotency key, beneficiary and settlement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31947-5AB8-4E05-89C9-4CD7DFE0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DF523-B995-48F2-98E7-5522095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2400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4C58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E2051-390A-42E2-9B5D-BC28C262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3ACF0-88D5-4D11-929A-B7C35A7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432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INSWITCH switching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91C30-7B64-4B34-81D0-6D889FB3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Validates instruction, applies route policy, records decision, starts evidence capture.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B0FD6-DF8E-49D2-B9FF-C127D8D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2448F-2C45-4113-A393-FB619A8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648E0-4BB1-4C90-9256-A22B7B07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2DFC2-A79E-4784-94C1-1708FF3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5277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Eligible local rails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1087C-989A-4335-A895-ED9887F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995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NIP, MFB endpoints, Interswitch, core credits, and other configured payout providers.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78250-BE8F-4644-8E58-91892DA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96F1D-79F0-49BD-BE21-6632D800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BB4F3-CFB2-42B1-9986-CFB4777A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73268-2880-4947-933B-7C89E44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527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Repair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19A9D-79DE-4117-A4C2-5DF3ACD1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099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C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CC"/>
                </a:solidFill>
                <a:latin typeface="Aptos"/>
                <a:ea typeface="Aptos"/>
                <a:cs typeface="Aptos"/>
              </a:rPr>
              <a:t>Provider callbacks, session references, ledger posting, settlement match, operator audit.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7C475-0D4F-47A4-914C-4C7E8BC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A9FD8-CF85-4D57-AABF-4142F464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EE13C-AFDC-43E2-8258-31C71BF5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8630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route_decisions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2690C-9DA5-4838-B051-D4750877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29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C13B1-2BDA-46CC-AE9F-21A89192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291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63674-118E-4019-BA8B-FAC63F47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86300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final_leg_attempts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75527-4AE2-4B1A-A706-22CC863C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C32B1-08BD-4E07-9800-3B956AB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1D94F-DAEF-4258-9FAB-775A893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outcome_evidence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D58845-D79B-4BF9-A5F9-A91660BA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953A0-3CB7-4C25-BC15-087EF8E0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291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93FC7F-E2A6-4738-AD40-A5CB9B1F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5DB90F-C446-468B-8D9C-923A787B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733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D0C3"/>
                </a:solidFill>
                <a:latin typeface="Aptos"/>
                <a:ea typeface="Aptos"/>
                <a:cs typeface="Aptos"/>
              </a:rPr>
              <a:t>Not positioned as a second core banking system. Positioned as a reliability and repair layer around final-leg settlement.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971C36-583F-429C-8A62-1F7C2588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6534CC-E693-4B18-9300-30DE71B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B3"/>
                </a:solidFill>
                <a:latin typeface="Aptos"/>
                <a:ea typeface="Aptos"/>
                <a:cs typeface="Aptos"/>
              </a:rPr>
              <a:t>Architecture: API + route policy + evidence capture + MariaDB system of record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F2B41-FED0-4A5D-8729-1A3116A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81236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B6632-9729-4580-81B2-4DA6E231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05A5E-ECF5-4587-9B75-BFA8CC65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F80C51D-398B-4A7A-ADB6-AF90AB2F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E4124C5-06EF-4529-9FE8-B10E3935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COMMAND CENTER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A59A9-4CDB-4710-AF09-15A9F353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The first screen launches work, not confusion.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F7F52-E0E6-48B5-92BC-858BC665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The Command Center answers four operational questions and each card/chart segment opens the focused queue the operator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31BC8-2F98-485B-A024-CE02CAE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76200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FAFA0-5366-4707-B4C3-D684191E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76275"/>
            <a:ext cx="71056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8159b204b4c77"/>
          <a:srcRect xmlns:a="http://schemas.openxmlformats.org/drawingml/2006/main" l="0" t="4839" r="0" b="4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0050" y="685800"/>
            <a:ext cx="708660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13B7F-C4A2-4EEC-AE3D-9CDF1F29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F2A4C-FDBA-4037-9F32-F546452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44BF9-EDF9-4806-A643-6C963DA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Failed/reversed -&gt; exceptions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D09A8-15E6-4D69-A6E4-8533B356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B0B1D-B61F-48C2-8E53-2DD01AAD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5E896-ECB0-41D2-B08F-28EAEC27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Provider performance -&gt; route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D189F-62D2-4B73-98C7-DA8160BB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87A55-082B-43F3-B018-0116B5DB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2D56E-C053-40EA-89B4-FDBDF0EA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Partner SLA breach -&gt; SLA settings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61074-A393-44C1-9668-ECDF8AF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A9F57-76D1-475F-BB33-BE9D3C0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26DE8-0090-4ACB-97CC-452C2FFD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Switching API status -&gt; 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35AF4-B504-4EFC-8946-2F61DCB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3257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48F02-DC4E-4754-8F80-0A2D2F01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CD2F7-00A1-4916-BA79-D77822C7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next 3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4264B-374A-48D4-BE7C-1C345BC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2990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ACTIVE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FD12F-CE95-4FD1-A78B-EEAB9D2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Owner, age, route, value at risk, one safe action.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B80F1-382D-48FE-A178-05C033FA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3257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35968-9877-4EB2-A4A1-1CCED975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A17B5-B2AE-450A-88BC-D2E125E8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96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drillable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88D4F-421E-4E4E-9004-0F1FBD9F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990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CHARTS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2B25E-0E24-41D0-9434-192EE866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245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Chart.js surfaces open the focused route/query state.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9BD4B-886C-4F41-B108-2F6B6455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76800"/>
            <a:ext cx="3257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FFBA6A-F81A-4850-A622-8F695443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768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8C5929-551F-4F5C-83CD-871293EB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96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operator labels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F6E90-2945-4161-83E2-AE25A28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53050"/>
            <a:ext cx="2990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COPY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43C745-7C37-4E13-B685-E1F8E36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Needs evidence, Requery running, Checker pending, Route degraded.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162812-982B-421F-A9D6-21C9C78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2D068-1AB1-4A7D-AF3C-763EAEE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Verified route targets: /exceptions, /routes, /settings?tab=sla, /settings?tab=integrations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BA268-4D73-47E1-BA5E-8A85EF37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13139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8FA77-6D3D-4358-A4C5-1A51C617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52D11-B80C-4056-9C57-567D14DE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0085283-0739-46BE-9939-69561424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40B6ABD8-76E0-4F49-97E2-4C0B716E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DAILY OPERATOR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1DBA-71CD-475E-B4F6-8DFBFD4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Signal to audited repair now follows one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62FC2-DA7A-4B6B-9826-7F8ADD0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Every drill path keeps the operator oriented: queue, transaction, evidence, action, checker,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0C9E7-2862-4E1C-8FDC-3B7DA511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962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E3B07-AFDF-4E60-B929-F8982F66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7DAFD-EB69-4482-A5D5-2838E2B2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392EA-0EDE-4501-BBCF-F29785EE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Failed/reversed local transfer, SLA breach, route pressure, API 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A6303-DD6C-470E-9A6B-66DC1EBB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32638-918E-452C-AB57-03F608BE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1962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40A41-D603-46A0-907C-4B36552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A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86A0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12D38-2462-41C7-AE62-329303D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5546F-84C4-4EB9-A9DE-39AA981B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Exceptions filtered by queue=all, exhausted, reversal, recon break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226AA-E054-4545-B859-BD260FA7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908B9-2178-4DF3-BB17-2C123123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1962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ED6DD-4B65-4D00-8DF2-6816D58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66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A66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72A5D-F8E3-4A48-B576-F4AF4F77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Inflow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EAE6B-775E-4428-9E98-9964D299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623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Summary, route decision, timeline, evidence, requery, reconciliation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734D3-8065-4ABA-9A63-2017435F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6A256-03DD-4725-BBDB-DE33B1EB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962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1883A-659E-45E8-B50E-89FA8754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85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785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5456C-AE1A-4DAF-8A0C-17728573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650C2-5C3E-4AEC-B251-1E255589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623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Evidence reference + reason + safety checklist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AC638-1DC3-401D-9A10-A3C8E8E9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3F709-5632-4144-8624-1C0E39D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71800"/>
            <a:ext cx="1962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23371-F43E-4586-A6C7-57024857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5150"/>
            <a:ext cx="38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FA494-8653-4444-BDEA-1F16E881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432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B822C-98D9-4A30-95DE-22390B5C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623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Outcome evidence and immutable operator/system events append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28082-8E0D-4C10-A265-95E2C41C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648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5E50D5-22AF-4358-9E45-64DC221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4D96D8-AFE4-4A1E-8058-52B8E3C1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434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Breadcrumbs preserve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707E51-153D-4770-9B91-DB877075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Command Center -&gt; Inflow -&gt; Exception, Exception -&gt; Inflow -&gt; Evidence, Command Center -&gt; Inflow -&gt; 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6EF43-C8E5-470F-95C3-2699B82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648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1B63FC-CB60-413E-B727-31E72583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3A5161-AEF9-4F1D-A157-842D096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434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Allowed actions stay state scoped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838785-1C85-4F09-915E-19D5AE2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0065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High duplicate risk only accepts evidence attachment; reversal approval requires failed-safe proof; completed outside platform waits for checker review.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53EE0-C7FE-490E-B0C2-1E3D0F81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14C7B0-4D9F-4A8B-9F24-ACA122AA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Flow implemented in CommandCenterView, InflowsView, ExceptionsView and typed route contracts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6FA253-A81F-41C4-8FE9-490DE06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9448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264357-7A17-4D72-8291-523F0164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3795C-9956-4811-B7E2-DFA886CB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3C95912-00A6-45F3-9EA2-7AC2DD50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F4AB56C-918B-40AB-9855-1F491273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TRANSACTION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05EF7-B9F6-4F0A-81D2-8EA7342C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One inflow page explains route, evidence, and reconciliation.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82386-0C8B-4A3B-8016-6C27EE35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Operators no longer need a confusing side panel. The inflow detail page is a workspace with tabs mapped to real backend tables.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64181-A96F-4045-A3E9-9B4B50A9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58293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EF556-D414-4759-93D4-19301ED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569595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1870ee7214e81"/>
          <a:srcRect xmlns:a="http://schemas.openxmlformats.org/drawingml/2006/main" l="0" t="5034" r="0" b="5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495550"/>
            <a:ext cx="5676900" cy="3190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49F94-D0BF-404C-BE09-C66BF8C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1BC98-51B4-4F63-B165-87DC344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16AB1-C1A8-4B2E-929B-C371C35F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D55EB-16D9-4579-A54B-1D2065BF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24020-830F-4C65-8C03-07D325B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3B7FD-6AEE-4520-ADDF-B2D30FE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Route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FF485-DB9D-40CD-B634-8269004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A5C8C-74D2-4FE4-BC40-FF2B15D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1D65E-699F-4CF4-8710-2A74D3E3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76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0BBA9-D762-4993-99B0-81375A7E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76F88-3C40-465F-92A1-4825A1F7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3E20C-18DC-4482-8A19-5AA6200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385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13B98-8B6B-4326-BE14-1B2FC2E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C742B-A676-42CA-A837-85DFFF3E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AEF7D-B2D5-4E7E-8819-8B61822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00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Requery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5DFDC-9CE1-4A3D-99C3-5968D26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43B0C-7D55-4BF7-A61B-0295C00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B6328D-8D22-4F70-93F5-D854DB67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Reconciliation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5EE18-245F-4871-8A43-2BD30990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1AC41-6557-4AF3-B46D-562F2BC8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1BCB01-C2AB-4F36-A1FA-117547ED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4DDEB-EFF9-4BDD-B9FA-5DD3053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2266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F9DDEE-A584-4328-A6C9-43930B0C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C6030-8BB2-4FB9-8674-42200C37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193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Evidence requirement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D65A83-42B9-4FA4-B43D-0501C5C1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Required vs captured proof: provider callback, rail/session reference, core ledger posting, settlement batch, operator notes.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0D201-E547-4794-8C52-4E5443D2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2266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DE05A-C805-44CF-B82F-17035EA5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128449-E12F-43CC-89D1-6BAC9A1C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147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Route decision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FB2F15-A43C-40CC-A6B8-CBF3E9DA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Selected route, rejected routes, policy version, score inputs, and final-leg route reason.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EC7420-B87C-42B5-878E-23145794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2266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D2950D-C319-418E-B237-96D8D241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768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4FC106-D7C7-4AC1-B904-4B67225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00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Reconciliation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D11795-949E-49FA-8557-C7FB17A1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578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Provider file reference, bank ledger reference, match state, mismatch reason.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B78535-BDD3-4C48-B645-355CC50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08FC36-CE52-4EC8-83D7-68E56AD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UI contracts: InflowDetailTab, EvidenceRequirement, RouteDecisionRecord, ReconciliationMatch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22A29B-BE64-49D2-901A-88D9D6C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55850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7DD229-BFED-4E7F-8A3B-AAB66886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34E8C354-A6C9-45BE-8604-58CE7379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C3B8A92C-B30F-4C6B-BC66-3D1BDBD9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EXCEPTIONS DESK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2F871-935F-429B-B8D0-DE2F6F47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Manual repair cannot submit without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7F2BB-DA06-4181-BB71-D50154C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The primary operations desk gates every material action with evidence reference, reason, safety checklist, and audited state mutation.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1D6BA-B484-4E83-ABE9-E47FEAE8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81050"/>
            <a:ext cx="5410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5368C-3C2B-4325-AE34-79130A9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95325"/>
            <a:ext cx="52768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515A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2f0fd040a4479"/>
          <a:srcRect xmlns:a="http://schemas.openxmlformats.org/drawingml/2006/main" l="1545" t="0" r="15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704850"/>
            <a:ext cx="5257800" cy="3390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E4DE8-4917-4CD1-96B9-6EA59980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State-scoped action 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99FC7-0017-4F9A-9A1B-A90F8BB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4C224-12F8-42F8-8E78-698BE41A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AA7CD-07D9-4E29-BD31-B367EA20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High duplicate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412DF-A4A4-4D1F-9AE9-1CD6297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Attach evidence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B0420-9E81-4720-8A2D-873F0AE0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No closure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59CC8-818C-47E1-BC04-F6C4FF22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74D3A-E839-4E67-8034-364FCA21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3B2CA-FF17-40C8-868E-86BBB3B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Requery active/exhausted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92506-D95E-468F-9C6F-0840CDCA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911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Manual requery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3B5D8-36F6-42C3-AE38-26287D0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Evidence +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5955A-2DCF-43CF-B69D-9360876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90412-7143-42E6-82A0-28F31E4D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52F81-86C5-448E-AAC0-9E86D7E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Failed-safe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A9192-765A-402D-880E-49EA9F5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102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Approve reversal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0E0D1-E373-4EA9-A970-7CD58709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Rail no-credit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2A6CE-3EB7-4691-A852-D2E37A3E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555A8-5D5F-49B5-8CF5-825E250B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A548E-2F4C-4E6C-A9BD-6D17528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Ledger/session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EE6CE-430A-4AEE-AC0D-3F226488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293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Completed outside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D66F1-9323-43A3-B994-6C1A972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29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Checker 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28180E-D1E5-4448-94F4-64DCFF3B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24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5D7EB-6051-4FB2-9518-B8C2FE0E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BBFC1C-7DE7-4060-A2F1-48C873FB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disabled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B859F9-794A-4736-B62E-A88DA06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057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C2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C2BC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479C9-935E-4D87-A071-74004885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until evidence reference and reason are present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01211-2E7A-4229-8026-A8F322F0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2324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E0DD28-7779-42C7-B224-8CF5B6D5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A463F-74AA-49FC-8D90-98832C89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57525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appended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DC9219-3B5B-4D01-AD84-BE8003E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2057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8C2B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C2BC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072AFE-39E5-492A-8BD1-1F6758B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outcome evidence plus operator event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6FCFCB-90FF-416D-AD7A-49767FE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C5815E-72DE-4B03-ACB8-912A222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B3"/>
                </a:solidFill>
                <a:latin typeface="Aptos"/>
                <a:ea typeface="Aptos"/>
                <a:cs typeface="Aptos"/>
              </a:rPr>
              <a:t>Actions mutate mock/API state through submitExceptionAction and append audit/evidence records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D9FC52-2980-46BA-AC25-AEDDEB8C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39108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739581-B293-4C63-B102-3A77188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CC7AB-491F-4EED-80F6-B3AF358B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DB30EDCC-270B-4AAC-91BD-999E7AD1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4C95A645-B7F4-47AF-BB51-4262BE99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ROUTE PRESSURE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4ECC7-A470-4E23-A334-60018B7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Provider performance becomes a traffic stance, not a static scorecard.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133E8-6BA4-4DF9-9222-243F791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Routes expose health, P95, timeout, late success, open cases, current split, fallback order, linked cases, history, and policy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164D1-6C22-42D3-B1E4-E313FD3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6057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425D0-E44C-45C9-97B1-F3F6DBF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5924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48c2c0a61465f"/>
          <a:srcRect xmlns:a="http://schemas.openxmlformats.org/drawingml/2006/main" l="0" t="7677" r="0" b="76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628900"/>
            <a:ext cx="5905500" cy="3124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21269-E57B-48CB-ADDD-258A4A95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2BECB-BD38-478B-B7D1-E8AC85D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6C0A-3185-4644-B473-0DA5F8AE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19375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Fidelity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E0DB5-AB48-44F5-90E1-65F347BC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BEST PERFORMER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8BD7-350C-4C3D-B6A6-3C42274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242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Intra-bank beneficiaries stay direct.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C5233-32DF-463C-96D8-5A8B1099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00387-1763-4900-95BF-6571FC4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B3EDA-A94A-4316-9A4C-481D544F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NIP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C492C-547E-49A7-988F-A44F4ACC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HIGHEST PRESSURE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C097D-A391-4E2D-8F92-451EBCB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242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Timeouts and ledger/provider status conflict.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3F522-E217-4BA4-B227-F7BC97D3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58896-9EE4-4C42-B0F1-272B4265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3A33D-3769-4634-BAAC-F94E7A2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57625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D38E3-4FF8-4FE1-903B-8E81CA31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9100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ROUTE DETAIL TABS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8B7C9-676A-452F-B9F0-49AD503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Overview, Traffic, Cases, History, Policy.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1FACD-D7FB-4AB9-AAEB-F8A4A47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C0BCC-FD87-4215-A6E5-FE3DA040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51EBF-5C6A-4A4F-8904-C94C736A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57625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inflows + cases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333B2-1EEA-49D2-BE69-D2399B1F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LINKED 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7B0948-FF78-4E2E-B0A4-40ABF353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624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Operators can jump from route pressure to repair evidence.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854C5D-DBDC-4F40-AD76-47468B36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29200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C76A3-B178-41F2-BB46-5F84D31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2920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AD99B-F071-4566-BDC4-AF54604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53025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Traffic stance examples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2ACCFA-207F-4F33-A9C8-D5632B1F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407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Maintain direct credits. Contain new traffic. Recovery test only. Increase eligible traffic when evidence improves.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666FD8-BE7B-4344-8E3A-9D8969D3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E76A0-4C99-40EE-9594-22957FD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RouteDetailTab + route_health_windows + remediation_cases power the drilldown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C4E51B-4E27-4668-AA11-54256897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5585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DF6D7-5EDB-480D-91B4-329B9412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FE34B64A-73E7-489D-A78C-1AECD9DD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B788ADCB-A6B9-44F3-8C45-C0E5E100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MARIADB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06432-6E0C-4F97-9253-633EE73B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UI maps to the MariaDB operating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052A1-5367-463C-B928-8C1CE27C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This pass stays UI + contracts, but each primary flow lines up with a MariaDB table or rollup that can be persisted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BAF98-C612-4599-BE98-6E112780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941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06817-A6E1-4569-9457-A02E7FE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Command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494D8-AC6D-4B11-AB00-F6F50AE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route_health_windows, api_health_windows, remediation_cases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126B7-5FCB-44FC-8C0A-7CA4A0EB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941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1F9A1-398D-4997-8E71-BE9D2BB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Inflow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A4AD0-C172-41EB-9181-2619A57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28975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incoming_instructions, route_decisions, final_leg_attempts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C43D2-2E29-4D79-9500-46E6E75E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94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8EA96-1650-45BE-B58F-F1647F8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638A9-93BE-4A42-A45F-100B687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provider_calls, outcome_evidence, requery_attempts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F47B8-B752-42AB-8E6C-840E643E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941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655D0-7193-4868-93ED-FE3F378A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Exception repair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48997-080D-4531-B113-9013E68E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3375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remediation_cases, audit_events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8515C-8EF8-4A07-88C6-07A17D8B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941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4DF67-7F56-435D-8728-1BD4801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Reconciliation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F297F-E6AC-4709-9A03-5581F56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00575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reconciliation_matches, settlement batches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1D274-6BBA-4F05-AA13-20F6F0BE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3941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2EE70-007C-47B6-8271-9D1BCB2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577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5647A-37BB-46E0-8E4F-54EAD74E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57775"/>
            <a:ext cx="657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D0C3"/>
                </a:solidFill>
                <a:latin typeface="Aptos Mono"/>
                <a:ea typeface="Aptos Mono"/>
                <a:cs typeface="Aptos Mono"/>
              </a:rPr>
              <a:t>sla policies, integrations, feature switches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B048A-C201-4610-B245-A78AF10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AFB43-A217-4015-8190-F458B1DC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8266B-3476-4B87-841C-29CF25D1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1276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MariaDB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8657C-CA00-4233-B247-BF3F4FC7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24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C7AB6-0ECC-4C9A-8430-F70593D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24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984BB-3BD7-42A6-B9D5-2B6C3BF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81650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Typed UI contracts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1C634-28E6-4B67-8B9B-B88E10B5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286C8-84D8-45D7-85DE-1097A89E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BA4CD-B605-4B6D-A6B8-41232205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8165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Mock/API aligned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8286D-2E3D-4B5C-9AEE-49996F5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Advanced FX, commercial scorecards, wallets/cash pickup, and debit/refund operations remain behind feature controls.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066205-DA08-4873-822D-7EB18E4E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C4A566-8A05-4880-B5D4-83AE516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B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B3"/>
                </a:solidFill>
                <a:latin typeface="Aptos"/>
                <a:ea typeface="Aptos"/>
                <a:cs typeface="Aptos"/>
              </a:rPr>
              <a:t>Database target: MariaDB/InnoDB; MariaDB-only planned schema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982980-FCE6-49C1-8AAF-A8EACE93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353803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ED266-534B-4EE6-88A7-DD8B9294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F6317-CC6D-425A-B2FE-55B5F2F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CCC97D6-80D0-42D7-8FB8-86233CCA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F6E5C3C-3D80-478A-93FD-F780015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INTEGRATIONS AND SLA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50824-70B7-416A-97AC-7690E01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Endpoint health is now an operating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94383-042D-45CE-B4FD-8EA0F64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The Integrations tab shows switching API health, provider endpoints, polling freshness, callback status, and last successful health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AA390-5600-4E61-9242-849DFB11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838200"/>
            <a:ext cx="5772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E513F-1CD6-4218-859B-4D6ECA97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52475"/>
            <a:ext cx="5638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d754f367e4e61"/>
          <a:srcRect xmlns:a="http://schemas.openxmlformats.org/drawingml/2006/main" l="0" t="5254" r="0" b="5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762000"/>
            <a:ext cx="561975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BB262-1919-4131-B240-B87A2FF3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A1F42-EFB3-40E1-A162-EF4ACD00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A4D06-245C-48CC-A818-89FE4155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Switching API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FA261-5C0E-4900-B46D-039B2C91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Success, timeout, P95 latency, polling freshness, callback status, next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BE048-B607-438E-BBCA-0335C9D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2EB4E-04FC-4B48-A1D2-AE24791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E48C6-7C85-41C4-AABB-5D574D9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813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Provider endpoints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BED77-9C7F-454A-89F2-321251B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3850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NIP status lookup, Moniepoint callback listener, Interswitch final status.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43ED6-84DC-4CBF-84B5-8F1461D0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1B604-7373-4C18-8EAA-2360607B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CF6F8-1227-419B-A807-0E2B4C7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SLA deep 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09AB1-1D9C-4A51-B4BC-FC1448E0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/settings?tab=sla&amp;focus=breaches opens partner SLA policy and backoff controls.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EA88F-9A8F-41E5-98DA-10B7FA43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87EE8-FA46-4473-B061-B9DFC05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9039D-99CC-473C-9ADA-C79024B8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291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Audit deep 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0555A-EE8F-412F-BB96-75DAA1E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/settings?tab=audit exposes evidence retention and operator/system events.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52C07-B288-400B-A50D-C495FDA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577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14AC6-D742-4F0A-9211-21C03A7C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577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96AEA-3E90-48E6-A5D7-B326E2FF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0057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api_health_windows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836A3-B69D-4902-A9CC-236A8C7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HEALTH WINDOWS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814713-44BE-4D20-99A0-48BDC38A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054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ready for backend rollups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6B48F-5FC5-48C7-83FB-77AB20E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BA97E-72B5-49EA-A020-7B49E711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1002B6-28E2-4E30-9D47-C52D3C0A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0057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direct labels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308A18-3F96-44E5-BDAC-751BF9C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3395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E756F"/>
                </a:solidFill>
                <a:latin typeface="Aptos"/>
                <a:ea typeface="Aptos"/>
                <a:cs typeface="Aptos"/>
              </a:rPr>
              <a:t>OPERATOR COPY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A76D5-975A-4B52-BF97-A710F42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054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No abstract product-claim framing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5C3ADF-9DE1-4C07-8C86-C60E336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4E506-4B73-48FB-9227-046AE721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Settings tabs: contracts, SLA, integrations, feature controls,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A1ED1-D832-4EBA-8D87-7BD7863C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3676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D9B9C-4BAD-4CAA-9A32-40DDEA6B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CCAD3-CC2D-4AA8-BEDA-5785E487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460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A111C5AA-3029-442C-9DD3-5504238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A92C6F7-EF64-4955-AD8B-09B5207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DEPLOYMENT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2CFA2-AA13-41FA-A802-C0D853B5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418"/>
                </a:solidFill>
                <a:latin typeface="Aptos Display"/>
                <a:ea typeface="Aptos Display"/>
                <a:cs typeface="Aptos Display"/>
              </a:rPr>
              <a:t>The hosted demo is ready for bank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7E959-B764-4A96-8F51-2FFF0F38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The current implementation is built, tested, browser-verified, and deployable through the existing demo branch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C49AF-0DBD-47F3-A890-6899ABE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0CBB4-D476-4009-ACB1-1D103CF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BFADB-293D-4B76-9795-2638E097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Repair-first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8E148-5A57-4CDA-9BEB-F6CBFC8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11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five-screen model with deep detail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93E22-2762-440B-A1B9-DC6D82D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E7B18-2B89-4CA2-A75C-07848F0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105E0-78A4-4F93-BD3F-CC4392A9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57575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Typed contracts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09B82-96EB-4F7A-9C62-1FCDE928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11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tabs, evidence requirements, linked work, integration health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D4178-74A5-4119-860E-918C025C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742AD-5ED5-4495-A8B9-168744EF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91625-B366-4A66-AEB5-8374D3E6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Mock/API alignment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3B72C-D396-4B31-8699-491EBB7E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11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case actions mutate state and append audit/evidence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10344-F0ED-43F1-B53A-B73555BF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38241-52C3-44CF-8B14-FA6C5432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05A47-508E-4899-9FF1-6AD5D6C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Browser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9F86F-F5AE-422B-AB9D-116E0911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411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desktop/mobile screenshots, no horizontal overflow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5D0C6-136A-4328-AD41-6CB88F4B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2704-5103-42A0-AA65-A518502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96F9C-89F1-4147-AC12-D6873B1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57825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Deployment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3AFD8-0CC2-43CB-85BA-3087810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4114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demo branch -&gt; GitHub Actions -&gt; imsi.cloudspacetechs.com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AA5F5-F0E3-40EA-AD58-440BEAC9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1014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B78B8-701C-4F8D-BA40-6E8D79F6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Next implementation 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9504A-5069-4503-8CF9-ED2139D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1. Wire live MariaDB persistence.</a:t>
            </a:r>
          </a:p>
          <a:p xmlns:a="http://schemas.openxmlformats.org/drawingml/2006/main">
            <a:pPr algn="l">
              <a:defRPr sz="112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2. Connect provider status/callback adapters.</a:t>
            </a:r>
          </a:p>
          <a:p xmlns:a="http://schemas.openxmlformats.org/drawingml/2006/main">
            <a:pPr algn="l">
              <a:defRPr sz="112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3. Add maker-checker permissions around closure.</a:t>
            </a:r>
          </a:p>
          <a:p xmlns:a="http://schemas.openxmlformats.org/drawingml/2006/main">
            <a:pPr algn="l">
              <a:defRPr sz="112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4. Expand SLA rollups from live health windows.</a:t>
            </a:r>
          </a:p>
          <a:p xmlns:a="http://schemas.openxmlformats.org/drawingml/2006/main">
            <a:pPr algn="l">
              <a:defRPr sz="1125" b="0">
                <a:solidFill>
                  <a:srgbClr val="D8D0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0C3"/>
                </a:solidFill>
                <a:latin typeface="Aptos"/>
                <a:ea typeface="Aptos"/>
                <a:cs typeface="Aptos"/>
              </a:rPr>
              <a:t>5. Add bank-specific contract and deployment runbook.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F8AEE-8876-44FB-BF16-280B432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059D5A-46B0-4FDE-89D9-9479A1E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8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4BFA74-3341-438C-B9E5-4FD033A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Ready for CIO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A0CA3-7D36-468E-B88B-E991974E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00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A424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B2EE3-4871-42D9-8D65-56788D9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006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F4DD6C-5B19-4DC6-B237-083CB867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Demo deployment follows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17739-DAB2-4EC7-9D02-33DDC5EB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812600-6E5E-46C7-92CC-EA29C239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E756F"/>
                </a:solidFill>
                <a:latin typeface="Aptos"/>
                <a:ea typeface="Aptos"/>
                <a:cs typeface="Aptos"/>
              </a:rPr>
              <a:t>Verified commands: npm run web:test, npm run web:build, Playwright desktop/mobile QA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8A6DF7-CDB0-4C92-BED8-72F584D2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4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1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776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2026-06-03T21:37:20.0830000Z</dcterms:created>
  <dcterms:modified xsi:type="dcterms:W3CDTF">2026-06-03T21:37:20.0830000Z</dcterms:modified>
</coreProperties>
</file>